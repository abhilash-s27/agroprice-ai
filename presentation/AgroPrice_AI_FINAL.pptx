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3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99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26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9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62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41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0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72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76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57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35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29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9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83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082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972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62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897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570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957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26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80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267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79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372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063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961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096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910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603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608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167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20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225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61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587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492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43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684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877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455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740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368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1203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8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4114800"/>
          </a:xfrm>
          <a:prstGeom prst="ellipse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029200" cy="4114800"/>
          </a:xfrm>
          <a:prstGeom prst="ellipse">
            <a:avLst/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457200"/>
            <a:ext cx="3657600" cy="32004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56032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PROJECT  ·  MCA 2ND SEMESTER  ·  RVCE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603504"/>
            <a:ext cx="8503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</a:t>
            </a:r>
            <a:r>
              <a:rPr lang="en-US" sz="7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20040" y="19751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Agricultural Market Intelligence &amp; Forecasting Platform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 ·  Karnataka  ·  Andhra Pradesh  ·  Kerala  ·  Telangana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0"/>
          </a:xfrm>
          <a:prstGeom prst="line">
            <a:avLst/>
          </a:prstGeom>
          <a:noFill/>
          <a:ln w="10160">
            <a:solidFill>
              <a:srgbClr val="2A4A7A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871216"/>
            <a:ext cx="192024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MEMBERS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19088" y="2871216"/>
            <a:ext cx="2377440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1901952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089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 Abhilash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31927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1RV25MC084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13432" y="3090672"/>
            <a:ext cx="1901952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13432" y="3090672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1089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Rajath 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31927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1RV25MC080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6824" y="3090672"/>
            <a:ext cx="1901952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06824" y="3090672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6552" y="31089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Praveen K 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16552" y="331927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1RV25MC076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19088" y="3090672"/>
            <a:ext cx="2377440" cy="457200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3090672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3108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Prof. Usha J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28816" y="3319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MCA  ·  RVCE, Bengaluru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9768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29768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96312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06040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606040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72584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82312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YRS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82312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48856" y="3657600"/>
            <a:ext cx="192024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958584" y="371246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58584" y="405993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46817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sabhilash.mca25@rvce.edu.in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778240" y="49011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2004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AgroPrice AI?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agentic platform that converts 12 years of South Indian mandi data into real-time price intelligence, AI-grounded forecasts, and institutional-grade advisory.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956816"/>
            <a:ext cx="2761488" cy="2560320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56816"/>
            <a:ext cx="54864" cy="2560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665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" y="2523744"/>
            <a:ext cx="2468880" cy="0"/>
          </a:xfrm>
          <a:prstGeom prst="line">
            <a:avLst/>
          </a:prstGeom>
          <a:noFill/>
          <a:ln w="10160">
            <a:solidFill>
              <a:srgbClr val="EF4444">
                <a:alpha val="3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651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volatility with no forecasting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0624" y="3182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mandi data across states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" y="371246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advisory for farmers or traders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18688" y="1956816"/>
            <a:ext cx="2761488" cy="2560320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956816"/>
            <a:ext cx="54864" cy="2560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0665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58768" y="208483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2523744"/>
            <a:ext cx="2468880" cy="0"/>
          </a:xfrm>
          <a:prstGeom prst="line">
            <a:avLst/>
          </a:prstGeom>
          <a:noFill/>
          <a:ln w="10160">
            <a:solidFill>
              <a:srgbClr val="06B6D4">
                <a:alpha val="3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651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Prophet + SparseTrend ML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3182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grounded narration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64992" y="371246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council + probabilistic outlook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3056" y="1956816"/>
            <a:ext cx="2761488" cy="256032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956816"/>
            <a:ext cx="54864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0665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03136" y="208483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523744"/>
            <a:ext cx="2468880" cy="0"/>
          </a:xfrm>
          <a:prstGeom prst="line">
            <a:avLst/>
          </a:prstGeom>
          <a:noFill/>
          <a:ln w="10160">
            <a:solidFill>
              <a:srgbClr val="10B981">
                <a:alpha val="3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651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crops × 5 states × 12 years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3182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AI advisory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09360" y="371246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for all user roles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Yearly Parquet Files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87168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10B981">
              <a:alpha val="18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Crops Tracked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0016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06B6D4">
              <a:alpha val="18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API Route Groups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12864" y="4590288"/>
            <a:ext cx="2029968" cy="310896"/>
          </a:xfrm>
          <a:prstGeom prst="roundRect">
            <a:avLst>
              <a:gd name="adj" fmla="val 35294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459028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 Live Endpoints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36576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INTRODUCTION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023360" cy="2724912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2724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08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Intelligence Gap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3566160" cy="0"/>
          </a:xfrm>
          <a:prstGeom prst="line">
            <a:avLst/>
          </a:prstGeom>
          <a:noFill/>
          <a:ln w="1016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47088"/>
            <a:ext cx="36210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agricultural markets move thousands of crores of rupees — yet most farmers and traders navigate price decisions with little more than guesswork.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replaces that uncertainty with real-time intelligence grounded in 12 years of AGMARKNET mandi price data across 5 states and 27 crops.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298448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298448"/>
            <a:ext cx="5486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29844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75504" y="1344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Forecasting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75504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 / 90d Prophet predictions with calibrated confidence bands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975104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975104"/>
            <a:ext cx="54864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97510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75504" y="2020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AI Advisory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75504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conversational AI grounded in real DuckDB metrics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2651760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2651760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6517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75504" y="2697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75504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z-score spike/crash detection across all 27 crops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3328416"/>
            <a:ext cx="4389120" cy="60350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328416"/>
            <a:ext cx="54864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3284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75504" y="33741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Intelligence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75504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council + probabilistic outlook + 4 analyst personas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8595360" cy="438912"/>
          </a:xfrm>
          <a:prstGeom prst="rect">
            <a:avLst/>
          </a:prstGeom>
          <a:solidFill>
            <a:srgbClr val="0F204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513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scope:  27 Crops  ·  5 South Indian States  ·  AGMARKNET 2015–2026  ·  Gemini 2.5 Flash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45720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243584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408176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Forecasting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Prophet forecasts (7d / 30d / 90d) with calibrated confidence bands for all 27 crops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6592" y="1243584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408176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2984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76672" y="1572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z-score spike/crash detection; severity low/medium/high over a 90-day lookback window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" y="2212848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031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AI Advisor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2377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multi-turn Gemini advisory with session memory, entity extraction &amp; 4 analyst personas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36592" y="2048256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212848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21031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Regime Detection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76672" y="2377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market regime classifications (Bullish Expansion to Panic Volatility) via deterministic signal fusion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852928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2336" y="3017520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29077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Cross-Crop Intelligence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3182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crop relationship graph (complement/substitute/seasonal/regional) with contagion risk scoring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6592" y="2852928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017520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29077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76672" y="3182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decision trace, confidence engine, correlation signals — every response is fully traceable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657600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059669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02336" y="3822192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37124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Probabilistic Decisions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4400" y="398678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up/down/sideways probabilities + volatility shock + reversal risk per crop and state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36592" y="3657600"/>
            <a:ext cx="4242816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3822192"/>
            <a:ext cx="402336" cy="402336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76672" y="37124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Institutional Reporting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76672" y="398678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with 5 market postures, Bloomberg-style briefings, PDF/Excel report generation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3200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PROBLEM STATEMENT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8595360" cy="493776"/>
          </a:xfrm>
          <a:prstGeom prst="rect">
            <a:avLst/>
          </a:prstGeom>
          <a:solidFill>
            <a:srgbClr val="1A0808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price volatility devastates millions — yet farmers navigate markets with guesswork and fragmented phone calls.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54864" cy="2505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19933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Volatility Crisis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" y="2487168"/>
            <a:ext cx="2505456" cy="0"/>
          </a:xfrm>
          <a:prstGeom prst="line">
            <a:avLst/>
          </a:prstGeom>
          <a:noFill/>
          <a:ln w="1016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5786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2336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within 90 days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3273552"/>
            <a:ext cx="2505456" cy="0"/>
          </a:xfrm>
          <a:prstGeom prst="line">
            <a:avLst/>
          </a:prstGeom>
          <a:noFill/>
          <a:ln w="1016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prices crash post-harvest then spike 4× in off-season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forecasting system exists for mandi-level prediction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at market bottoms due to post-harvest pressure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901952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1901952"/>
            <a:ext cx="54864" cy="2505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77056" y="19933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Fragmentation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46704" y="2487168"/>
            <a:ext cx="2505456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5786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346704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data-entry errors removed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46704" y="3273552"/>
            <a:ext cx="2505456" cy="0"/>
          </a:xfrm>
          <a:prstGeom prst="line">
            <a:avLst/>
          </a:prstGeom>
          <a:noFill/>
          <a:ln w="1016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has 3+ Variety rows per crop/day — no deduplication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46704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contains prices up to Rs 918 million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6704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analytics layer across 5 South Indian states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1901952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1901952"/>
            <a:ext cx="54864" cy="2505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9933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21424" y="199339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Gap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91072" y="2487168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57860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291072" y="30175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 for farmers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91072" y="3273552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rely on phone networks and delayed mandi reports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91072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cross-crop relationship analysis for arbitrage decisions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91072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explainable AI to justify a sell/hold recommendation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solidFill>
            <a:srgbClr val="0A140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→  AgroPrice AI delivers grounded AI intelligence so every market decision is backed by real data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5486400" cy="41148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Benefits?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56032" y="1243584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43584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7824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" y="1554480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18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Mode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1792224"/>
            <a:ext cx="2523744" cy="0"/>
          </a:xfrm>
          <a:prstGeom prst="line">
            <a:avLst/>
          </a:prstGeom>
          <a:noFill/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653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sell now or wait? Practical harvest-timing guidance in plain language with mandi selection advice.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/ Hold / Wait verdict + seasonal timing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243584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243584"/>
            <a:ext cx="54864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Wholesale Buyer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1554480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18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Mode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46704" y="1792224"/>
            <a:ext cx="2523744" cy="0"/>
          </a:xfrm>
          <a:prstGeom prst="line">
            <a:avLst/>
          </a:prstGeom>
          <a:noFill/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8653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timing, bulk pricing windows, cold storage feasibility — cost-conscious supply chain intelligence.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recommendation + 30d price range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1243584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1243584"/>
            <a:ext cx="54864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03136" y="13167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Commodity Trader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03136" y="1554480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Mode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09360" y="1792224"/>
            <a:ext cx="2523744" cy="0"/>
          </a:xfrm>
          <a:prstGeom prst="line">
            <a:avLst/>
          </a:prstGeom>
          <a:noFill/>
          <a:ln w="1016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86537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7–30d price trajectory, momentum inflection points, volatility as opportunity, and position sizing guidance.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7648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momentum signal + volatility regime badge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2761488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761488"/>
            <a:ext cx="54864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77824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Analyst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7824" y="3072384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18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Mode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4048" y="3310128"/>
            <a:ext cx="2523744" cy="0"/>
          </a:xfrm>
          <a:prstGeom prst="line">
            <a:avLst/>
          </a:prstGeom>
          <a:noFill/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338328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statistical rigour — CV, anomaly clusters, probabilistic outlook with confidence intervals.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2336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outlook (P up/down) + 7-agent council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18688" y="2761488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18688" y="2761488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84048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Procurement Mgr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840480" y="3072384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Mode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46704" y="3310128"/>
            <a:ext cx="2523744" cy="0"/>
          </a:xfrm>
          <a:prstGeom prst="line">
            <a:avLst/>
          </a:prstGeom>
          <a:noFill/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338328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processors: seasonal availability windows, holding cost vs price-movement risk, bulk entry guidance.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64992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exit price hints + escalation alerts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81344" y="2761488"/>
            <a:ext cx="2779776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81344" y="2761488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45936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803136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Agri-Business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03136" y="3072384"/>
            <a:ext cx="1463040" cy="182880"/>
          </a:xfrm>
          <a:prstGeom prst="roundRect">
            <a:avLst>
              <a:gd name="adj" fmla="val 60000"/>
            </a:avLst>
          </a:prstGeom>
          <a:solidFill>
            <a:srgbClr val="EF4444">
              <a:alpha val="18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3136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309360" y="3310128"/>
            <a:ext cx="2523744" cy="0"/>
          </a:xfrm>
          <a:prstGeom prst="line">
            <a:avLst/>
          </a:prstGeom>
          <a:noFill/>
          <a:ln w="1016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338328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across all 27 crops — dominant market posture and cross-crop opportunity matrix.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27648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Bloomberg-style briefing + autonomous monitor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"/>
            <a:ext cx="4572000" cy="41148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GENERATIVE AI CONCEPTS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AI Concepts Used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Parquet 2015–2026  (DuckDB lazy view)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71907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92224"/>
            <a:ext cx="54864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922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  (volatility · momentum · anomaly · seasonal)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221284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86000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86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 (Prophet + SparseTrend → yhat, CI)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270662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79776"/>
            <a:ext cx="5486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797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PromptContext  —  12-field deterministic data contract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320040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2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73552"/>
            <a:ext cx="5486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735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 (temperature=0.2, thinking_budget=0)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0" y="3694176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67328"/>
            <a:ext cx="4937760" cy="420624"/>
          </a:xfrm>
          <a:prstGeom prst="rect">
            <a:avLst/>
          </a:prstGeom>
          <a:solidFill>
            <a:srgbClr val="0D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67328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673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  →  SSE stream  →  Frontend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4937760" cy="365760"/>
          </a:xfrm>
          <a:prstGeom prst="rect">
            <a:avLst/>
          </a:prstGeom>
          <a:solidFill>
            <a:srgbClr val="0D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Gemini reasons ABOUT injected facts — it never invents prices, forecasts, or confidence scores.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129844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94960" y="1298448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1298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89904" y="13533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Narration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9904" y="1609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Gemini responses cite real DuckDB metrics injected via PromptContext dataclass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202996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2029968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20299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089904" y="208483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Personas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89904" y="234086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modes (Farmer / Trader / Wholesale / Analyst) materially change response register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94960" y="276148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394960" y="2761488"/>
            <a:ext cx="5486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27614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089904" y="28163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Advisory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89904" y="30723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STT + speechSynthesis TTS — voice I/O for farmer accessibility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94960" y="3493008"/>
            <a:ext cx="3474720" cy="658368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94960" y="349300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34930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089904" y="354787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Streaming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089904" y="38039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Gemini output via /api/advisor/ask/stream (native async generator)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94960" y="4242816"/>
            <a:ext cx="3474720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1264" y="424281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 ·  temp=0.2  ·  thinking_budget=0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max_output_tokens=2048  ·  retry ×2 (exp backoff)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5720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FORECASTING THEORY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Series Forecasting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023360" cy="3493008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3493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081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🔵  Prophet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 — Bayesian additive decomposition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048256"/>
            <a:ext cx="3474720" cy="457200"/>
          </a:xfrm>
          <a:prstGeom prst="rect">
            <a:avLst/>
          </a:prstGeom>
          <a:solidFill>
            <a:srgbClr val="0F2040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4825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y(t)  =  g(t)  +  s(t)  +  h(t)  +  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651760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piecewise linear changepoints (scale=0.05)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072384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72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— yearly multiplicative (no weekly/daily)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493008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9300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493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— Indian public holidays via add_country_holidays(IN)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3913632"/>
            <a:ext cx="3474720" cy="347472"/>
          </a:xfrm>
          <a:prstGeom prst="rect">
            <a:avLst/>
          </a:prstGeom>
          <a:solidFill>
            <a:srgbClr val="0F2040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1363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13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— residual uncertainty captured in CI bands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" y="4370832"/>
            <a:ext cx="3474720" cy="274320"/>
          </a:xfrm>
          <a:prstGeom prst="rect">
            <a:avLst/>
          </a:prstGeom>
          <a:solidFill>
            <a:srgbClr val="0F20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3708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seasonality_mode=multiplicative  ·  yearly=True  ·  weekly=False  ·  daily=False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1298448"/>
            <a:ext cx="4389120" cy="192024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1298448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4081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 Forecast Horizons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45152" y="1773936"/>
            <a:ext cx="4059936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0176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BAND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5152" y="208483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Days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80176" y="20848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sell/hold decision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51776" y="2139696"/>
            <a:ext cx="841248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51776" y="21396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45152" y="243230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80176" y="243230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trade planning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51776" y="2487168"/>
            <a:ext cx="841248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248716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45152" y="27797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Days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980176" y="277977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strategy / planting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51776" y="2834640"/>
            <a:ext cx="841248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283464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3364992"/>
            <a:ext cx="4389120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3364992"/>
            <a:ext cx="54864" cy="9875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438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Output Fields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37307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yhat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predicted modal price (Rs/quintal)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yhat_lower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lower confidence bound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yhat_upper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upper confidence bound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80560" y="4462272"/>
            <a:ext cx="4389120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46227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SparseTrend Fallback (Tier C/D):  Theil-Sen median slopes + monthly multipliers + 80% CI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54864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41148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AI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Architecture Concepts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69748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21308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48740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09928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5316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00300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27732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88920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4308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9292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06724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67912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43300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58284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85716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46904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2292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37276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4708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25896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01284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16268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43700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04888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80276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+Corr.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795260" y="1499616"/>
            <a:ext cx="45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22692" y="1316736"/>
            <a:ext cx="105156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59268" y="1737360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286000"/>
            <a:ext cx="276148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2286000"/>
            <a:ext cx="54864" cy="1060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2286000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69264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69264" y="265176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Hard/soft blocks prevent off-topic queries (coding, crypto, politics) from reaching Gemini. Checked FIRST on every single call.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18688" y="2286000"/>
            <a:ext cx="276148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18688" y="2286000"/>
            <a:ext cx="54864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2286000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913632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Memory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913632" y="265176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TTL sessions (2h, max 10 turns). Crop/state context inherited across follow-up turns. Optional Redis backend.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63056" y="2286000"/>
            <a:ext cx="276148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63056" y="2286000"/>
            <a:ext cx="54864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286000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858000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 Classify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858000" y="2651760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rule-based classification. 20+ intent patterns. No LLM involved in routing decisions.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419856"/>
            <a:ext cx="422452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74320" y="3419856"/>
            <a:ext cx="54864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" y="3419856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969264" y="3493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Grounding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969264" y="3785616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PromptContext carries 12 injected fields from real DuckDB/ML data. Gemini narrates ABOUT deterministic facts — never invents them.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81728" y="3419856"/>
            <a:ext cx="4224528" cy="106070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81728" y="3419856"/>
            <a:ext cx="54864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419856"/>
            <a:ext cx="475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5376672" y="3493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 Framing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5376672" y="3785616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analyst personas prepended before system identity. Changes Gemini response register, language, and focus — not the underlying data.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" y="4590288"/>
            <a:ext cx="8595360" cy="256032"/>
          </a:xfrm>
          <a:prstGeom prst="rect">
            <a:avLst/>
          </a:prstGeom>
          <a:solidFill>
            <a:srgbClr val="0F20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pipeline  ·  Deterministic intent  ·  Grounded PromptContext  ·  Session memory  ·  SSE streaming  ·  Exponential retry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57200"/>
            <a:ext cx="4572000" cy="41148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32004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VISUAL INTELLIGENCE &amp; XAI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 &amp; Visualizations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VISUALIZATION COMPONENTS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72768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727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MiniSparkline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Bezier-smoothed 30-day price with halo dot on last point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48256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0482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075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VolatilityMeter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267712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gauge arc — CV% mapped to low/high/extreme color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23744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237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5511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ConfidenceGauge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2743200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arc showing forecast reliability score (0–100%)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99232"/>
            <a:ext cx="54864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99923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0266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RiskHeatBar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21868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Color-gradient bar from low risk (emerald) to extreme (red)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474720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74720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474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5021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SeasonalPosition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694176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chip: DEEP_PEAK / PEAK / NORMAL / LEAN / TROUGH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950208"/>
            <a:ext cx="429768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950208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3950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39776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MomentumArrow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16966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arrow: STRONG_BULLISH to STRONG_BEARISH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1261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572768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572768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627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 Engine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56048" y="18836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from training depth, volatility CV, anomaly count, momentum coherence, and forecast availability. Returns score + contributors + detractors.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2377440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37744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Engine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56048" y="2688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4 agent verdicts and emits CONFIRMING / CONTRADICTION / MIXED signals (e.g. 'Bullish momentum + peak season: CONFIRMING'). Max 5 signals per response.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3182112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182112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Trace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956048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pipeline trace: data quality, context build, agents, confidence, correlation, prompt. Shows agreed vs dissenting agents and evidence quality score.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3986784"/>
            <a:ext cx="4114800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98678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 Panel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956048" y="4297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component: agent verdict cards, reasoning trace as pill chips, persona tag, and correlation badges rendered below every streaming AI response.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5720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DATASET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Dataset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750" dirty="0"/>
          </a:p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India)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87168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</a:t>
            </a:r>
            <a:endParaRPr lang="en-US" sz="750" dirty="0"/>
          </a:p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0016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YRS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73168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2026</a:t>
            </a:r>
            <a:endParaRPr lang="en-US" sz="750" dirty="0"/>
          </a:p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(AGMARKNET)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912864" y="1261872"/>
            <a:ext cx="20299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86016" y="1280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86016" y="15361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750" dirty="0"/>
          </a:p>
          <a:p>
            <a:pPr marL="0" indent="0" algn="ctr">
              <a:buNone/>
            </a:pPr>
            <a:r>
              <a:rPr lang="en-US" sz="7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320" y="18653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— ROWS PER 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72768" y="21762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72768" y="2176272"/>
            <a:ext cx="3108960" cy="20116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1031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2103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72768" y="26334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72768" y="2633472"/>
            <a:ext cx="2379506" cy="20116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5603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6592" y="2560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72768" y="30906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72768" y="3090672"/>
            <a:ext cx="1178359" cy="20116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0175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3017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572768" y="35478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72768" y="3547872"/>
            <a:ext cx="647502" cy="201168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4747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34747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72768" y="4005072"/>
            <a:ext cx="3108960" cy="201168"/>
          </a:xfrm>
          <a:prstGeom prst="rect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2768" y="4005072"/>
            <a:ext cx="344419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9319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39319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0" y="1865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PER YEAR (SOUTH INDIA)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21031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25312" y="2112264"/>
            <a:ext cx="947678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05088" y="21031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486400" y="22860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25312" y="2295144"/>
            <a:ext cx="990824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05088" y="22860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0" y="24688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25312" y="2478024"/>
            <a:ext cx="991697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05088" y="24688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86400" y="26517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25312" y="2660904"/>
            <a:ext cx="839354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5088" y="26517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809K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86400" y="28346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25312" y="2843784"/>
            <a:ext cx="804260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28346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486400" y="30175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925312" y="3026664"/>
            <a:ext cx="669665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05088" y="30175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486400" y="32004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25312" y="3209544"/>
            <a:ext cx="751120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3200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724K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486400" y="33832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925312" y="3392424"/>
            <a:ext cx="927920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05088" y="33832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895K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486400" y="35661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925312" y="3575304"/>
            <a:ext cx="925672" cy="14630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05088" y="35661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893K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486400" y="37490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925312" y="3758184"/>
            <a:ext cx="2144379" cy="14630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05088" y="37490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486400" y="393192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925312" y="3941064"/>
            <a:ext cx="2743200" cy="14630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05088" y="39319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486400" y="41148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925312" y="4123944"/>
            <a:ext cx="326582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05088" y="41148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315K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060704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0704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1847088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47088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633472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633472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419856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475569">
              <a:alpha val="22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19856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4206240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475569">
              <a:alpha val="22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4992624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92624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779008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79008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Min_Price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565392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65392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7351776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51776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8138160" y="4334256"/>
            <a:ext cx="749808" cy="237744"/>
          </a:xfrm>
          <a:prstGeom prst="roundRect">
            <a:avLst>
              <a:gd name="adj" fmla="val 46154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38160" y="433425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Commodity_Code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AGMARKNET (Agricultural Marketing Information Network) · Open Government Data India · Parquet format via PyArrow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4704811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4114800" cy="36576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457200"/>
            <a:ext cx="3657600" cy="3200400"/>
          </a:xfrm>
          <a:prstGeom prst="ellipse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DATA SCHEMA &amp; QUALITY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&amp; Data Quality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14800" cy="3035808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54864" cy="3035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(11 Columns)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00784"/>
            <a:ext cx="3749040" cy="0"/>
          </a:xfrm>
          <a:prstGeom prst="line">
            <a:avLst/>
          </a:prstGeom>
          <a:noFill/>
          <a:ln w="10160">
            <a:solidFill>
              <a:srgbClr val="06B6D4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739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7739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55648" y="18105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810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32304" y="17739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filter applied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20025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0391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5648" y="20391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432304" y="20025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Sub-state geography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2311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2311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55648" y="22677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22677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32304" y="22311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name — used in deduplication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" y="24597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55648" y="24963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55648" y="2496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32304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crops in registry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6883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6883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55648" y="27249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5648" y="27249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32304" y="2688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 crop/day → dedup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" y="29169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55648" y="29535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475569">
              <a:alpha val="20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953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432304" y="29169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tier (Medium/FAQ/etc.)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1455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31455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55648" y="31821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55648" y="31821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432304" y="31455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YYYY-MM-DD → TRY_CAST DATE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" y="33741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Min_Price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55648" y="34107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55648" y="34107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432304" y="33741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Rs/quintal — floor reference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36027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" y="36027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755648" y="36393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55648" y="3639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432304" y="3602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Rs/quintal — ceiling reference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" y="38313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55648" y="38679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55648" y="38679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432304" y="38313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forecast target — AVG'd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059936"/>
            <a:ext cx="3749040" cy="228600"/>
          </a:xfrm>
          <a:prstGeom prst="rect">
            <a:avLst/>
          </a:prstGeom>
          <a:solidFill>
            <a:srgbClr val="0F2040">
              <a:alpha val="7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" y="405993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Commodity_Code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755648" y="4096512"/>
            <a:ext cx="640080" cy="146304"/>
          </a:xfrm>
          <a:prstGeom prst="roundRect">
            <a:avLst>
              <a:gd name="adj" fmla="val 75000"/>
            </a:avLst>
          </a:prstGeom>
          <a:solidFill>
            <a:srgbClr val="475569">
              <a:alpha val="20000"/>
            </a:srgbClr>
          </a:solidFill>
          <a:ln w="1016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55648" y="40965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432304" y="40599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internal ID (unused)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0" y="1298448"/>
            <a:ext cx="4297680" cy="91440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572000" y="129844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1298448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175504" y="13533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Duplicate Varieties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75504" y="1609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records 3+ Variety rows per (date, crop, state, market) — e.g. Tomato/Local, Tomato/Hybrid, Tomato/FAQ all on the same day.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75504" y="1901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(date, crop, state, market) + AVG(Modal_Price)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per mandi per day — correct for forecasting.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72000" y="2286000"/>
            <a:ext cx="4297680" cy="91440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572000" y="228600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18304" y="2286000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5175504" y="2340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Extreme Price Outliers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175504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contains prices from Rs 0 to Rs 918,421,086 — confirmed data-entry errors (7 zeros of scale).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75504" y="2889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Modal_Price BETWEEN 1 AND 100,000 Rs/qtl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815 outlier records removed. Cardamoms exempt: cap=500,000.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0" y="3273552"/>
            <a:ext cx="4297680" cy="91440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572000" y="3273552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18304" y="3273552"/>
            <a:ext cx="420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175504" y="33284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Tamil Nadu Data Gap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175504" y="3584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mandi data shows very low coverage before 2024, making any pre-2024 price series unsuitable for forecasting.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175504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TAMIL_NADU_DATA_START = '2024-01-01' applied automatically when state='Tamil Nadu' and no start_date supplied.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" y="4407408"/>
            <a:ext cx="8595360" cy="274320"/>
          </a:xfrm>
          <a:prstGeom prst="rect">
            <a:avLst/>
          </a:prstGeom>
          <a:solidFill>
            <a:srgbClr val="0F204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one AVG(Modal_Price) per calendar day per crop×state — passed directly to Prophet as (ds, y) — no interpolation, no forward-fill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59131888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914400"/>
            <a:ext cx="45720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3657600" cy="32004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PREPROCESSING PIPELINE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 Pipeline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5486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380744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1280160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33502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Parquet File Discovery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59105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sorted(parquet_dir.glob('*.parquet'))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58768" y="1353312"/>
            <a:ext cx="0" cy="365760"/>
          </a:xfrm>
          <a:prstGeom prst="line">
            <a:avLst/>
          </a:prstGeom>
          <a:noFill/>
          <a:ln w="889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134416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yearly files (2015–2026) · data/raw/parquet/ · ~400 MB total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50208" y="1563624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31–64 MB per file · loaded lazily by DuckDB via PyArrow driver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23760" y="1426464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4264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 parquet paths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0624" y="179222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1837944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837944"/>
            <a:ext cx="54864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1938528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1837944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🦆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18928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Lazy 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214884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VIEW: lazy query, zero data loaded into Python memory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58768" y="1911096"/>
            <a:ext cx="0" cy="365760"/>
          </a:xfrm>
          <a:prstGeom prst="line">
            <a:avLst/>
          </a:prstGeom>
          <a:noFill/>
          <a:ln w="889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190195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copied into Python memory · query-time disk reads only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50208" y="2121408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 reads only the row groups each query needs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23760" y="1984248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9842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prices VIEW active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0624" y="235000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395728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395728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" y="2496312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6384" y="239572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88720" y="2450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Validation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88720" y="270662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prices → 7 required columns verified at startup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58768" y="2468880"/>
            <a:ext cx="0" cy="365760"/>
          </a:xfrm>
          <a:prstGeom prst="line">
            <a:avLst/>
          </a:prstGeom>
          <a:noFill/>
          <a:ln w="889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0208" y="245973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State, Commodity, Arrival_Date, Min/Max/Modal_Price fields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50208" y="2679192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ValueError immediately if any required column is missing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23760" y="2542032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254203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Schema confirmed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0624" y="29077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2953512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2953512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" y="3054096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" y="2953512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188720" y="300837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Price Filter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88720" y="326440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 BETWEEN 1 AND 100,000 Rs/qtl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58768" y="3026664"/>
            <a:ext cx="0" cy="365760"/>
          </a:xfrm>
          <a:prstGeom prst="line">
            <a:avLst/>
          </a:prstGeom>
          <a:noFill/>
          <a:ln w="889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0208" y="301752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815 outlier records removed · raw prices ranged 0 to Rs 918M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50208" y="3236976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query via _price_filter(crop) — not a permanent delete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23760" y="3099816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309981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 [1–100K] Rs/qtl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20624" y="346557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3511296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3511296"/>
            <a:ext cx="54864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" y="3611880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86384" y="3511296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188720" y="35661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Deduplication  (AVG)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188720" y="382219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(date, crop, state, market)  +  AVG(Modal_Price)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58768" y="3584448"/>
            <a:ext cx="0" cy="365760"/>
          </a:xfrm>
          <a:prstGeom prst="line">
            <a:avLst/>
          </a:prstGeom>
          <a:noFill/>
          <a:ln w="889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50208" y="357530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3+ Variety rows per mandi/day into one avg price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950208" y="3794760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AVG(Min_Price) and AVG(Max_Price) also computed · outlier-robust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223760" y="3657600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36576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record/mandi/day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20624" y="402336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4069080"/>
            <a:ext cx="8595360" cy="51206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74320" y="4069080"/>
            <a:ext cx="54864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0624" y="4169664"/>
            <a:ext cx="310896" cy="310896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0624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86384" y="4069080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188720" y="412394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Prophet-Ready Series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188720" y="437997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(ds, y) daily time series · Prophet.fit() ready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858768" y="4142232"/>
            <a:ext cx="0" cy="365760"/>
          </a:xfrm>
          <a:prstGeom prst="line">
            <a:avLst/>
          </a:prstGeom>
          <a:noFill/>
          <a:ln w="889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50208" y="413308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df['ds'] = datetime64[ns] · df['y'] = float64 daily modal price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950208" y="4352544"/>
            <a:ext cx="32186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calendar dates NOT filled — Prophet handles sparse data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223760" y="4215384"/>
            <a:ext cx="153619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23760" y="42153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(ds, y) DataFrame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090E1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evaluation: DuckDB reads parquet blocks on demand · Python memory stays low · Complete pipeline runs in &lt; 50 ms per query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15394045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5029200" cy="36576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FEATURE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2252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query_for_forecast(crop, state) → (ds, y) DataFrame from DuckDB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536192"/>
            <a:ext cx="2761488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536192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3619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detect_price_anomalies()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z(t) = ( price(t) − μ_30d ) / σ_30d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≥ 2.0 → 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≥ 2.5 → MEDIUM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≥ 3.5 → 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" y="2770632"/>
            <a:ext cx="2048256" cy="155448"/>
          </a:xfrm>
          <a:prstGeom prst="roundRect">
            <a:avLst>
              <a:gd name="adj" fmla="val 54545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spike / crash events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1536192"/>
            <a:ext cx="2761488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536192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53619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67328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compute_volatility_metrics()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67328" y="1847088"/>
            <a:ext cx="2103120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σ / μ × 100%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67328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20% → Stable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7328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35% → Moderate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6732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50% → High Risk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49040" y="2770632"/>
            <a:ext cx="2048256" cy="155448"/>
          </a:xfrm>
          <a:prstGeom prst="roundRect">
            <a:avLst>
              <a:gd name="adj" fmla="val 54545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instability_score + badge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44768" y="1536192"/>
            <a:ext cx="2761488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1536192"/>
            <a:ext cx="54864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53619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11696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compute_seasonal_profile()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11696" y="1847088"/>
            <a:ext cx="2103120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8470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dev[m] = ( μ_month − μ_annual ) / μ_annual × 100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11696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peak_months (top-3 +dev)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11696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trough_months (bottom-3 -dev)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11696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current_phase: peak|trough|normal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21424" y="2770632"/>
            <a:ext cx="1920240" cy="155448"/>
          </a:xfrm>
          <a:prstGeom prst="roundRect">
            <a:avLst>
              <a:gd name="adj" fmla="val 5454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monthly_profile dict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3090672"/>
            <a:ext cx="4206240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3090672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09067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22960" y="31455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compute_momentum_signal()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" y="3401568"/>
            <a:ext cx="3547872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 avg_7d − avg_prior30d ) / avg_prior30d × 100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2960" y="36576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10 → Strong Uptrend ↑↑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" y="38953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→ Uptrend ↑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" y="41330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 to 3 → Flat →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2960" y="4325112"/>
            <a:ext cx="3474720" cy="15544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42793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signal + change_pct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45152" y="3090672"/>
            <a:ext cx="4206240" cy="146304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45152" y="3090672"/>
            <a:ext cx="54864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3090672"/>
            <a:ext cx="402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212080" y="31455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compute_forecast_quality()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212080" y="3401568"/>
            <a:ext cx="3547872" cy="201168"/>
          </a:xfrm>
          <a:prstGeom prst="rect">
            <a:avLst/>
          </a:prstGeom>
          <a:solidFill>
            <a:srgbClr val="07101F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depth_score − vol_penalty − staleness_penalty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212080" y="36576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 &gt; 500 → +40pts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12080" y="389534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&lt; 20% → +0 penalty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12080" y="41330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&gt; 30d → −30pts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175504" y="4332146"/>
            <a:ext cx="3511296" cy="155448"/>
          </a:xfrm>
          <a:prstGeom prst="roundRect">
            <a:avLst>
              <a:gd name="adj" fmla="val 54545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0368" y="42793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reliability_score (0–100)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99589787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371600"/>
            <a:ext cx="45720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"/>
            <a:ext cx="3657600" cy="32004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SYSTEM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8016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9536" y="1389888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286000" y="1325880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18.3 + Vite 5.2 + TailwindCSS 3.4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53619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 · 50+ AI components · 11 custom hooks · Recharts 2.12 · Zustand 4.5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558784" y="16642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55648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755648"/>
            <a:ext cx="54864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75564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536" y="1865376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1865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86000" y="1801368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0.136 + uvicorn 0.47  (port 8001)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011680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 · 39+ endpoints · CORS · Request Logger middleware · OpenAPI /docs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58784" y="21396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31136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231136"/>
            <a:ext cx="54864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2311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9536" y="2340864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2340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286000" y="2276856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 orchestration service modules in backend/services/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487168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advisor_ai_router · context_builder · memory_manager · agent_council (7 agents) · regime_detector · signal_fusion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58784" y="26151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706624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06624"/>
            <a:ext cx="54864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70662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9536" y="2816352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2816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286000" y="2752344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1.5.2 + pandas 3.0 + PyArrow 24.0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0" y="2962656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analytics functions · Lazy parquet queries · Dedup + outlier filter · query_cache · 12.6M South India rows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58784" y="30906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182112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182112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31821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9536" y="3291840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3291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ENGINE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286000" y="3227832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1.3 · SparseTrend · XGBoost 3.2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86000" y="3438144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 → ProphetForecaster  ·  Tier C/D → SparseTrendForecaster  ·  Forecast cache (disk JSON)  ·  7d / 30d / 90d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58784" y="356616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657600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657600"/>
            <a:ext cx="54864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365760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9536" y="3767328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(GEMINI)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286000" y="3703320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google-genai 2.8.0 · Gemini 2.5 Flash · temp=0.2 · thinking_budget=0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0" y="3913632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PromptContext (12 fields) · 8 structured error types · SSE streaming · 8-stage grounded pipeline · 4 analyst personas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58784" y="40416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133088"/>
            <a:ext cx="8229600" cy="438912"/>
          </a:xfrm>
          <a:prstGeom prst="rect">
            <a:avLst/>
          </a:prstGeom>
          <a:solidFill>
            <a:srgbClr val="0D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4133088"/>
            <a:ext cx="54864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13308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9536" y="4242816"/>
            <a:ext cx="1371600" cy="201168"/>
          </a:xfrm>
          <a:prstGeom prst="roundRect">
            <a:avLst>
              <a:gd name="adj" fmla="val 54545"/>
            </a:avLst>
          </a:prstGeom>
          <a:solidFill>
            <a:srgbClr val="94A3B8">
              <a:alpha val="20000"/>
            </a:srgbClr>
          </a:solidFill>
          <a:ln w="1016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" y="4242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286000" y="4178808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Parquet files (~400 MB) · forecast_cache/ · optional Redis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86000" y="4389120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data/raw/parquet/*.parquet  ·  AGMARKNET 2015–2026  ·  ADVISOR_MEMORY_BACKEND=memory|redis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355432946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4114800" cy="36576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41148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MODULE STRUCTURE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Structure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80160"/>
            <a:ext cx="4133088" cy="3255264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80160"/>
            <a:ext cx="54864" cy="32552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backend/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" y="1664208"/>
            <a:ext cx="3785616" cy="0"/>
          </a:xfrm>
          <a:prstGeom prst="line">
            <a:avLst/>
          </a:prstGeom>
          <a:noFill/>
          <a:ln w="10160">
            <a:solidFill>
              <a:srgbClr val="06B6D4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core/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66544" y="1737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· database · logger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66544" y="1965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analytics.py (5 functions)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loaders/  pipeline/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2194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duckdb_queries · ingestion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23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schema/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66544" y="2423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(Pydantic schemas)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ml/forecasting/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66544" y="2651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xgboost · sparse_trend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cache/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66544" y="2880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forecast_cache · query_cache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66544" y="3108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orchestration modules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337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llm/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66544" y="3337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GeminiProvider · PromptBuilder · Guardrails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agents/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66544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(trend·risk·seasonal·rec·briefing)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api/routes/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66544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 (39+ endpoints)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023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reports/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66544" y="4023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generator.py — PDF + Excel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4251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utils/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66544" y="4251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crop_registry · constants · validators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1280160"/>
            <a:ext cx="4297680" cy="3255264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1280160"/>
            <a:ext cx="54864" cy="32552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3533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⚛  frontend/src/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36592" y="1664208"/>
            <a:ext cx="3950208" cy="0"/>
          </a:xfrm>
          <a:prstGeom prst="line">
            <a:avLst/>
          </a:prstGeom>
          <a:noFill/>
          <a:ln w="1016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737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pages/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173736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pages: Dashboard · Forecast · AIAdvisor · CropExplorer · MapIntelligence · Reports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28032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components/ai/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208483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components: AdvisorChat · AICouncilPanel · AIProbabilityPanel · AICommandMode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57216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charts/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43230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ForecastChart · PriceLineChart · CropBarChart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57216" y="27797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ui/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277977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DashPanel · IntelligenceGrid · Badge · Card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28032" y="3127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hooks/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312724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hooks: useAnalytics · useForecast · useSpeechRecognition · useTextToSpeech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8032" y="3474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services/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3474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API service files: advisorService · decisionService · intelligenceService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28032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store/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382219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useForecastStore · usePriceStore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28032" y="4169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utils/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9360" y="416966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constants.js · formatters.js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4608576"/>
            <a:ext cx="8613648" cy="274320"/>
          </a:xfrm>
          <a:prstGeom prst="rect">
            <a:avLst/>
          </a:prstGeom>
          <a:solidFill>
            <a:srgbClr val="0F204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608576"/>
            <a:ext cx="8247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~45 Python files  ·  Frontend: ~75 JSX/JS files  ·  Total: ~120 source modules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6455792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371600"/>
            <a:ext cx="54864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TECHNOLOGY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80160"/>
            <a:ext cx="54864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53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Core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1719072"/>
            <a:ext cx="2505456" cy="0"/>
          </a:xfrm>
          <a:prstGeom prst="line">
            <a:avLst/>
          </a:prstGeom>
          <a:noFill/>
          <a:ln w="10160">
            <a:solidFill>
              <a:srgbClr val="3B82F6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79222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195681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0.136.1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212140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0.47.0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228600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 2.14.1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45059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1.2.2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25.5.0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28016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280160"/>
            <a:ext cx="54864" cy="1572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353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67328" y="13533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28416" y="1719072"/>
            <a:ext cx="2505456" cy="0"/>
          </a:xfrm>
          <a:prstGeom prst="line">
            <a:avLst/>
          </a:prstGeom>
          <a:noFill/>
          <a:ln w="10160">
            <a:solidFill>
              <a:srgbClr val="06B6D4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179222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1.5.2  (in-process)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46704" y="195681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3.0.0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46704" y="212140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PyArrow 24.0.0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6704" y="228600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1.17.0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46704" y="245059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(via prophet)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46704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Parquet files · 400 MB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44768" y="128016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280160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353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11696" y="135331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/ Forecasting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72784" y="1719072"/>
            <a:ext cx="2505456" cy="0"/>
          </a:xfrm>
          <a:prstGeom prst="line">
            <a:avLst/>
          </a:prstGeom>
          <a:noFill/>
          <a:ln w="1016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179222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1.3.0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91072" y="195681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3.2.0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91072" y="212140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SparseTrend (custom)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228600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multiplicative seasonality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1072" y="245059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holidays (country='IN')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91072" y="261518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Theil-Sen median slopes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292608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2926080"/>
            <a:ext cx="54864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999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22960" y="2999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84048" y="3364992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343814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2.8.0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2336" y="360273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2336" y="376732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2336" y="393192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thinking_budget = 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2336" y="40965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 = 2048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2336" y="426110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 ·  8 error types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0" y="292608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0" y="2926080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2999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767328" y="2999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328416" y="3364992"/>
            <a:ext cx="2505456" cy="0"/>
          </a:xfrm>
          <a:prstGeom prst="line">
            <a:avLst/>
          </a:prstGeom>
          <a:noFill/>
          <a:ln w="1016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46704" y="343814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18.3.1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46704" y="360273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5.2.12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46704" y="376732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3.4.4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46704" y="393192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2.12.7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46704" y="40965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4.5.2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46704" y="426110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react-router-dom 6.23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44768" y="2926080"/>
            <a:ext cx="2761488" cy="1572768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44768" y="2926080"/>
            <a:ext cx="54864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2999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711696" y="2999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 &amp; Infra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272784" y="3364992"/>
            <a:ext cx="2505456" cy="0"/>
          </a:xfrm>
          <a:prstGeom prst="line">
            <a:avLst/>
          </a:prstGeom>
          <a:noFill/>
          <a:ln w="10160">
            <a:solidFill>
              <a:srgbClr val="EF4444">
                <a:alpha val="28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343814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3.1.5  (Excel)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91072" y="3602736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4.5.1  (PDF)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291072" y="3767328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Redis memory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91072" y="3931920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allow_origin_regex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91072" y="4096512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responses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91072" y="4261104"/>
            <a:ext cx="2523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dual-server launch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56032" y="4572000"/>
            <a:ext cx="8631936" cy="256032"/>
          </a:xfrm>
          <a:prstGeom prst="rect">
            <a:avLst/>
          </a:prstGeom>
          <a:solidFill>
            <a:srgbClr val="0F20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" y="4572000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pinned with exact versions · backend/requirements.txt · frontend managed by npm with package-lock.json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23684322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4114800" cy="36576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3657600" cy="32004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API ROUTE MAP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Route Map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2252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 · FastAPI  ·  All routes prefixed  /api/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481328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481328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572768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7276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07008" y="155448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/api/prices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/prices?crop=Tomato&amp;state=Karnataka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568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/analytics/{crop}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139696"/>
            <a:ext cx="54864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231136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311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07008" y="22128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/api/forecasts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46888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/forecasts/{crop}/{state}?days=7|30|90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26151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Prophet → SparseTrend fallback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798064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98064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889504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88950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07008" y="28712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/api/crops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12724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/crops           — 27 crops in registry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27355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/crops/registry  — full CropInfo objects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456432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45643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547872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5478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207008" y="352958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/api/advisor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37856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/advisor/ask      — grounded Gemini call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393192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/advisor/ask/stream — SSE token stream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4114800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4114800"/>
            <a:ext cx="54864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4206240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062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207008" y="418795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/api/briefing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44439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/briefing/{crop}/{state} — 4-agent brief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" y="459028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/briefing/scenario        — heuristic sim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45152" y="1481328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45152" y="1481328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1572768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157276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96128" y="155448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/api/ai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3168" y="181051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/ai/insights/{crop}/{state}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73168" y="19568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/ai/narrative/{crop}/{state}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45152" y="2139696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45152" y="2139696"/>
            <a:ext cx="5486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3168" y="2231136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22311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596128" y="22128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/api/watchlist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73168" y="246888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/watchlist?max_crops=8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73168" y="26151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5 buckets: momentum_leaders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45152" y="2798064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45152" y="2798064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73168" y="2889504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288950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596128" y="28712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/api/intelligence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73168" y="312724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/intelligence/monitor?max_crops=N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73168" y="3273552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market regimes · escalation types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45152" y="3456432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45152" y="3456432"/>
            <a:ext cx="54864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73168" y="3547872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73168" y="35478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596128" y="352958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/api/decision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773168" y="3785616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/council/{crop}/{state}  — 7-agent vote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773168" y="3931920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/probability/{crop}/{state}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645152" y="4114800"/>
            <a:ext cx="4261104" cy="62179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45152" y="411480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73168" y="4206240"/>
            <a:ext cx="786384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73168" y="42062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596128" y="418795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/api/reports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773168" y="4443984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/reports/pdf    — openpyxl PDF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773168" y="4590288"/>
            <a:ext cx="4041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/reports/excel  — reportlab Excel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68538878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4572000" cy="4114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0"/>
            <a:ext cx="4114800" cy="32004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HARDWARE &amp; SOFTWARE SPECS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&amp; Software Specs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80160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80160"/>
            <a:ext cx="54864" cy="2505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13533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828800"/>
            <a:ext cx="2505456" cy="0"/>
          </a:xfrm>
          <a:prstGeom prst="line">
            <a:avLst/>
          </a:prstGeom>
          <a:noFill/>
          <a:ln w="1016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61872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Home Single Language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1872" y="223113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(virtual environment)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61872" y="25420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/ npm 10+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61872" y="28529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on port 8001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3163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61872" y="3163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on port 5173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0624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61872" y="34747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(dual terminal windows)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1280160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280160"/>
            <a:ext cx="54864" cy="2505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03904" y="13533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28416" y="1828800"/>
            <a:ext cx="2505456" cy="0"/>
          </a:xfrm>
          <a:prstGeom prst="line">
            <a:avLst/>
          </a:prstGeom>
          <a:noFill/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06240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12 Parquet files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64992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06240" y="223113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MB on disk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06240" y="25420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1.5.2 in-process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64992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06240" y="28529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single process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64992" y="3163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06240" y="3163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(no full file load)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64992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0" y="34747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cache (disk JSON, 24h TTL)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44768" y="1280160"/>
            <a:ext cx="2761488" cy="250545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44768" y="1280160"/>
            <a:ext cx="54864" cy="2505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48272" y="13533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72784" y="1828800"/>
            <a:ext cx="2505456" cy="0"/>
          </a:xfrm>
          <a:prstGeom prst="line">
            <a:avLst/>
          </a:prstGeom>
          <a:noFill/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50608" y="1920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in backend/.env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09360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50608" y="223113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allow_origin_regex: localhost:*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09360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50608" y="25420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TTL 2h or Redis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09360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50608" y="28529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safe for routes only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09360" y="3163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req.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150608" y="3163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.env changes (singleton)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0936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150608" y="34747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— CPU-only ML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56032" y="3913632"/>
            <a:ext cx="8631936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" y="3950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SEQUENCE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73736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373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46304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01168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92608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2608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65176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connect()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20040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11480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VIEW created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38912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30352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02920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singleton init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57784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9224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1792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ready :8001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76656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680960" y="400507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809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406640" y="42976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:5173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6032" y="4535424"/>
            <a:ext cx="8631936" cy="274320"/>
          </a:xfrm>
          <a:prstGeom prst="rect">
            <a:avLst/>
          </a:prstGeom>
          <a:solidFill>
            <a:srgbClr val="090E1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4535424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· No Docker · No cloud dependency during development · Entire stack runs locally in &lt; 30 seconds from cold start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3047549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6400800" cy="4572000"/>
          </a:xfrm>
          <a:prstGeom prst="ellipse">
            <a:avLst/>
          </a:prstGeom>
          <a:solidFill>
            <a:srgbClr val="8B5CF6">
              <a:alpha val="1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371600"/>
            <a:ext cx="5486400" cy="4572000"/>
          </a:xfrm>
          <a:prstGeom prst="ellipse">
            <a:avLst/>
          </a:prstGeom>
          <a:solidFill>
            <a:srgbClr val="3B82F6">
              <a:alpha val="1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743200"/>
            <a:ext cx="36576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37744"/>
            <a:ext cx="3108960" cy="256032"/>
          </a:xfrm>
          <a:prstGeom prst="rect">
            <a:avLst/>
          </a:prstGeom>
          <a:solidFill>
            <a:srgbClr val="8B5CF6">
              <a:alpha val="28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37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·  GENERATIVE AI FOUNDATIONS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9184" y="658368"/>
            <a:ext cx="8485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9184" y="1682496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&amp; Implementation Architecture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" y="2176272"/>
            <a:ext cx="8485632" cy="0"/>
          </a:xfrm>
          <a:prstGeom prst="line">
            <a:avLst/>
          </a:prstGeom>
          <a:noFill/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3B82F6">
              <a:alpha val="26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AI/ML/DL/GenAI Hierarchy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2374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6B6D4">
              <a:alpha val="26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 Prediction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1830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8B5CF6">
              <a:alpha val="26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12864" y="2359152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26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2359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F59E0B">
              <a:alpha val="26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2374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EF4444">
              <a:alpha val="26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Council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1830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6B6D4">
              <a:alpha val="26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2834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26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AI Ethics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" y="3419856"/>
            <a:ext cx="8485632" cy="274320"/>
          </a:xfrm>
          <a:prstGeom prst="rect">
            <a:avLst/>
          </a:prstGeom>
          <a:solidFill>
            <a:srgbClr val="0F204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419856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uses Gemini 2.5 Flash as its reasoning engine — grounded entirely on deterministic AGMARKNET data  ·  zero hallucination by design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20624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1E3A5F">
                <a:alpha val="18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3990115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3B82F6">
              <a:alpha val="1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01  —  LANDSCAPE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Intelligence Hierarchy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206240" cy="3401568"/>
          </a:xfrm>
          <a:prstGeom prst="rect">
            <a:avLst/>
          </a:prstGeom>
          <a:solidFill>
            <a:srgbClr val="0D1A2E"/>
          </a:solidFill>
          <a:ln w="1778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3502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5361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systems, search, optimization, expert systems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30352" y="1682496"/>
            <a:ext cx="3675888" cy="2706624"/>
          </a:xfrm>
          <a:prstGeom prst="rect">
            <a:avLst/>
          </a:prstGeom>
          <a:solidFill>
            <a:srgbClr val="0D1A2E">
              <a:alpha val="80000"/>
            </a:srgbClr>
          </a:solidFill>
          <a:ln w="1778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6642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84480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 from data — regression, classification, clustering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22960" y="2011680"/>
            <a:ext cx="3108960" cy="2066544"/>
          </a:xfrm>
          <a:prstGeom prst="rect">
            <a:avLst/>
          </a:prstGeom>
          <a:solidFill>
            <a:srgbClr val="0D1A2E">
              <a:alpha val="80000"/>
            </a:srgbClr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199339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18752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— CNNs, RNNs, attention mechanisms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88720" y="2368296"/>
            <a:ext cx="2468880" cy="1362456"/>
          </a:xfrm>
          <a:prstGeom prst="rect">
            <a:avLst/>
          </a:prstGeom>
          <a:solidFill>
            <a:srgbClr val="0D1A2E">
              <a:alpha val="80000"/>
            </a:srgbClr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32257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25296" y="2560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text, images, code — Transformers, LLMs, diffusion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188720" y="3218688"/>
            <a:ext cx="2377440" cy="365760"/>
          </a:xfrm>
          <a:prstGeom prst="rect">
            <a:avLst/>
          </a:prstGeom>
          <a:solidFill>
            <a:srgbClr val="0A221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321868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AgroPrice AI sits here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280160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80160"/>
            <a:ext cx="54864" cy="8778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280160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133502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159105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30368" y="177393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logic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30368" y="195681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from data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231136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231136"/>
            <a:ext cx="54864" cy="877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231136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0368" y="22860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254203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data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30368" y="272491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needed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30368" y="290779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predictions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182112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182112"/>
            <a:ext cx="54864" cy="8778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182112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30368" y="323697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349300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feature extraction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30368" y="367588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30368" y="385876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4133088"/>
            <a:ext cx="4187952" cy="877824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133088"/>
            <a:ext cx="54864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133088"/>
            <a:ext cx="402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30368" y="41879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444398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novel language output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30368" y="462686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with context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30368" y="480974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in our system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39"/>
            <a:ext cx="4187952" cy="492369"/>
          </a:xfrm>
          <a:prstGeom prst="rect">
            <a:avLst/>
          </a:prstGeom>
          <a:solidFill>
            <a:srgbClr val="0F20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4742219"/>
            <a:ext cx="3858768" cy="413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combines ALL four layers: DuckDB deterministic engine + Prophet/XGBoost ML + Gemini 2.5 Flash GenAI = Grounded Agricultural Intelligence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80864357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4572000" cy="36576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286000"/>
            <a:ext cx="41148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02  —  LLM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120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Architecture &amp; Token Prediction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94A3B8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88720"/>
            <a:ext cx="54864" cy="8412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Tomato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today?"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81912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0" y="1188720"/>
            <a:ext cx="54864" cy="841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Tokenizer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['What','is','Tom','ato','price']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71800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35808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35808" y="1188720"/>
            <a:ext cx="54864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 Layer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27248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IDs → 768-dim vectors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61688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25696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25696" y="1188720"/>
            <a:ext cx="54864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17136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 Self-Attention layers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51576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15584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15584" y="118872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Logit Head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07024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probability dist.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141464" y="1508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05472" y="1188720"/>
            <a:ext cx="1316736" cy="841248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1188720"/>
            <a:ext cx="54864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225296"/>
            <a:ext cx="1152144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Token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96912" y="1651406"/>
            <a:ext cx="1170432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at temp=0.2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2139696"/>
            <a:ext cx="8631936" cy="256032"/>
          </a:xfrm>
          <a:prstGeom prst="rect">
            <a:avLst/>
          </a:prstGeom>
          <a:solidFill>
            <a:srgbClr val="0A0D2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2139696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Autoregressive: Each output token becomes input for the next — the model predicts ONE token at a time, left to right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2633472"/>
            <a:ext cx="54864" cy="1920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4672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Attention Mechanism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4048" y="3072384"/>
            <a:ext cx="1828800" cy="0"/>
          </a:xfrm>
          <a:prstGeom prst="line">
            <a:avLst/>
          </a:prstGeom>
          <a:noFill/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each token 'look at' all other tokens in the context window simultaneously. This gives the model understanding of long-range dependencies — e.g. relating 'tomato' to 'price' 50 tokens earlier.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95728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395728" y="2633472"/>
            <a:ext cx="54864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05456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944368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23744" y="3072384"/>
            <a:ext cx="1828800" cy="0"/>
          </a:xfrm>
          <a:prstGeom prst="line">
            <a:avLst/>
          </a:prstGeom>
          <a:noFill/>
          <a:ln w="1016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3744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supports up to 1M tokens context. AgroPrice AI injects the full PromptContext (market data, forecasts, history, analytics) here — the LLM reasons over this window.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35424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35424" y="2633472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084064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Temperature (0.2)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3072384"/>
            <a:ext cx="1828800" cy="0"/>
          </a:xfrm>
          <a:prstGeom prst="line">
            <a:avLst/>
          </a:prstGeom>
          <a:noFill/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output randomness. At temp=0.2, the model strongly prefers the highest-probability next token. Results are near-deterministic, consistent, and factual — critical for financial data narration.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675120" y="2633472"/>
            <a:ext cx="2048256" cy="192024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675120" y="2633472"/>
            <a:ext cx="5486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84848" y="26700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223760" y="26700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Autoregressive Gen.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03136" y="3072384"/>
            <a:ext cx="1828800" cy="0"/>
          </a:xfrm>
          <a:prstGeom prst="line">
            <a:avLst/>
          </a:prstGeom>
          <a:noFill/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03136" y="312724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token is appended to the input and the model runs again to predict the next. SSE streaming exploits this: each token is sent to the frontend as soon as it is generated, creating real-time typewriter output.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7536142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5029200" cy="3657600"/>
          </a:xfrm>
          <a:prstGeom prst="ellipse">
            <a:avLst/>
          </a:prstGeom>
          <a:solidFill>
            <a:srgbClr val="10B981">
              <a:alpha val="11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3200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03  —  AGRICULTURAL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Generative AI in Agriculture?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151376" cy="3378706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45719" cy="33512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35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1664208"/>
            <a:ext cx="3785616" cy="0"/>
          </a:xfrm>
          <a:prstGeom prst="line">
            <a:avLst/>
          </a:prstGeom>
          <a:noFill/>
          <a:ln w="1016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8288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1847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Complexity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" y="2084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48.2M rows of raw price data across 5 states, 27 crops, 12 years. No farmer can read raw AGMARKNET tables and derive actionable decisions.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5420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2560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Time-Critical Decisions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Harvesting, transportation, and mandi selection are irreversible decisions made under time pressure. Delayed or wrong insight = direct financial loss.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" y="32552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32735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Expert Access Gap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market experts are scarce and expensive. 85% of South Indian farmers lack access to professional market advisory. GenAI democratizes expertise.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" y="396849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" y="3986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Multi-Variable Complexity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influenced by season, rainfall, transport, supply-demand, state policy, and market anomalies — too many variables for manual analysis.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07408" y="201168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07408" y="27249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408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41513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0016" y="1261871"/>
            <a:ext cx="4169664" cy="3360419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0016" y="1261872"/>
            <a:ext cx="45719" cy="33512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33502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GENAI SOLUTION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64608" y="1664208"/>
            <a:ext cx="3822192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8288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5232" y="18470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Narration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20848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converts raw statistical metrics into plain-language advisory: 'Tomato prices show strong upward momentum with 18% growth in 7 days.'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25420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85232" y="256032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Decision Advisory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85232" y="27980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narrative is backed by real DuckDB data. No hallucinations. The LLM reasons ABOUT truth — it does not invent price forecasts or trends.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25526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85232" y="32735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Multi-Turn Conversational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85232" y="35112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ask follow-up questions in natural language. Session memory preserves crop/state context across 10 turns (2h TTL) for continuity.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396849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85232" y="398678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Persona-Adapted Responses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42245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personas: Farmer (plain language), Trader (momentum), Wholesale (procurement), Analyst (statistical). Gemini adapts its response style per audience.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83464" y="4754880"/>
            <a:ext cx="8631936" cy="256032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64023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Agricultural intelligence previously available only to commodity traders is now accessible to every farmer via a conversational AI interface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57561292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486400" cy="45720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04  —  GEMINI 2.5 FLASH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2.5 Flash — Model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" y="1335024"/>
            <a:ext cx="4169664" cy="3236976"/>
          </a:xfrm>
          <a:prstGeom prst="rect">
            <a:avLst/>
          </a:prstGeom>
          <a:solidFill>
            <a:srgbClr val="0D1A2E"/>
          </a:solidFill>
          <a:ln w="1778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35024"/>
            <a:ext cx="64008" cy="32369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35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9264" y="1335024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gemini-2.5-flash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9264" y="168249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 ·  Multimodal Foundation Model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" y="1975104"/>
            <a:ext cx="3858768" cy="0"/>
          </a:xfrm>
          <a:prstGeom prst="line">
            <a:avLst/>
          </a:prstGeom>
          <a:noFill/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2084832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8483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65376" y="2084832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2.x Flash (efficient tier)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65376" y="237744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1,000,000 tokens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670048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004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65376" y="267004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Code · Vision · Audio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962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used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65376" y="2962656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2.8.0 (native async)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255264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552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type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65376" y="3255264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client.aio.models.generate_content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54787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settings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65376" y="3547872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types.SafetySetting (4 categories)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3840480"/>
            <a:ext cx="3840480" cy="283464"/>
          </a:xfrm>
          <a:prstGeom prst="rect">
            <a:avLst/>
          </a:prstGeom>
          <a:solidFill>
            <a:srgbClr val="0F2040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65376" y="384048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GeminiResult(text, error_type, ms)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65376" y="413308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structured: quota/key/safety/timeout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08576" y="1280160"/>
            <a:ext cx="4261104" cy="1371600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12801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335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Flash (not Pro or Ultra)?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1664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has 1M token context — sufficient for full PromptContext injection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1883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Flash averages 2–4s · Pro takes 8–15s — critical for live advisory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Flash is 10× cheaper per token vs Pro at same context length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2322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disabled (budget=0) — narration task does not need deep reasoning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08576" y="2761488"/>
            <a:ext cx="4261104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2761488"/>
            <a:ext cx="54864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816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Multimodal Capability (used for text only in AgroPrice AI)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127248"/>
            <a:ext cx="3931920" cy="0"/>
          </a:xfrm>
          <a:prstGeom prst="line">
            <a:avLst/>
          </a:prstGeom>
          <a:noFill/>
          <a:ln w="1016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218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57216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(PRIMARY)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72784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advisory, narration, analysis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73168" y="35478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57216" y="3547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72784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data is structured numeric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73168" y="38770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157216" y="3877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3877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TTS/STT via Web Speech API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73168" y="4206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57216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72784" y="4206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agricultural guardrails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6032" y="4663440"/>
            <a:ext cx="8631936" cy="237744"/>
          </a:xfrm>
          <a:prstGeom prst="rect">
            <a:avLst/>
          </a:prstGeom>
          <a:solidFill>
            <a:srgbClr val="090E1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663440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AgroPrice AI uses Gemini purely for natural language narration — all numerical intelligence comes from DuckDB + Prophet/XGBoost, not the LLM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15794507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914400"/>
            <a:ext cx="50292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5720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05  —  MODEL CONFIGURATION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Temperature &amp; Thinking Budget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65879" y="1261872"/>
            <a:ext cx="4242816" cy="3464696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1" y="1261872"/>
            <a:ext cx="73151" cy="34646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1673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🌡  Temperature = 0.2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" y="1719072"/>
            <a:ext cx="3931920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82880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" y="2084832"/>
            <a:ext cx="3913632" cy="27432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" y="2084832"/>
            <a:ext cx="969264" cy="274320"/>
          </a:xfrm>
          <a:prstGeom prst="rect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2084832"/>
            <a:ext cx="969264" cy="274320"/>
          </a:xfrm>
          <a:prstGeom prst="rect">
            <a:avLst/>
          </a:prstGeom>
          <a:solidFill>
            <a:srgbClr val="06B6D4">
              <a:alpha val="5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9152" y="2084832"/>
            <a:ext cx="969264" cy="27432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2084832"/>
            <a:ext cx="1005840" cy="274320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19072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19072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Setting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03704" y="2048256"/>
            <a:ext cx="0" cy="731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195681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017520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15968" y="23957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5968" y="256032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0624" y="2930652"/>
            <a:ext cx="39136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Near-deterministic output — same market data → same advisory tone every 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44060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risk — model strongly prefers factual tokens over creative ones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8268" y="3750447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consistency — farmers see reliable, coherent responses across sessions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99592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 (0.7+) would generate varied, creative answers — wrong for price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0016" y="1261872"/>
            <a:ext cx="4169664" cy="346469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0016" y="1261871"/>
            <a:ext cx="45719" cy="348438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31673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Thinking Budget = 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28032" y="1719072"/>
            <a:ext cx="3803904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81051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THINKING BUDGET?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4608" y="2048256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has a built-in 'thinking' capability — internal chain-of-thought reasoning before generating output. The thinking_budget parameter (0 = disabled) controls how many tokens are allocated to this internal reasoning phase.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8032" y="2633472"/>
            <a:ext cx="1792224" cy="1499616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688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Budget = AUTO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01184" y="2962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tokens: ~800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01184" y="3200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for response: ~44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01184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176 chars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01184" y="3675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TRUNCATED ✗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9984" y="2633472"/>
            <a:ext cx="2029968" cy="1499616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268833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Budget = 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21424" y="29626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tokens: 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21424" y="32004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2048 for response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21424" y="34381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1325 chars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21424" y="367588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 ✓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64608" y="420624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disabled?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64608" y="440740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task — all facts are pre-injected. Gemini does not need to 'think'; it narrates. Thinking would only consume output token budget unnecessarily.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92727" y="4829438"/>
            <a:ext cx="8631936" cy="219456"/>
          </a:xfrm>
          <a:prstGeom prst="rect">
            <a:avLst/>
          </a:prstGeom>
          <a:solidFill>
            <a:srgbClr val="090E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809744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effect: temp=0.2 + thinking_budget=0 = fast, deterministic, factual narration — ideal for financial agricultural advisory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9239862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5029200" cy="4114800"/>
          </a:xfrm>
          <a:prstGeom prst="ellipse">
            <a:avLst/>
          </a:prstGeom>
          <a:solidFill>
            <a:srgbClr val="06B6D4">
              <a:alpha val="11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5720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06  —  PROMPT 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PromptContext — The Grounding Contract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PromptContext dataclass is the contract between the deterministic engine and the LLM layer. Every field comes from real data — never invented.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499616"/>
            <a:ext cx="4206240" cy="292608"/>
          </a:xfrm>
          <a:prstGeom prst="rect">
            <a:avLst/>
          </a:prstGeom>
          <a:solidFill>
            <a:srgbClr val="0814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996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DETERMINISTIC (from DuckDB)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1499616"/>
            <a:ext cx="4224528" cy="292608"/>
          </a:xfrm>
          <a:prstGeom prst="rect">
            <a:avLst/>
          </a:prstGeom>
          <a:solidFill>
            <a:srgbClr val="0814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49961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🔢  COMPUTED (from Analytics Engine)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8653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653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883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0665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crop name (27-crop registry)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23225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3225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40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" y="25237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state (5 states)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7797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7797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798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current_modal_price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29809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day's AVG(Modal_Price) from DuckDB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32369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2369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price_min_30d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" y="34381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MIN(y) over last 30 days in time series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941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712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price_max_30d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" y="38953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MAX(y) over last 30 days in time series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4151376"/>
            <a:ext cx="4206240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41513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4169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historical_summary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" y="435254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retrieval: year/month avg prices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45152" y="18653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152" y="1865376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1883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volatility_cv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91456" y="20665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= σ/μ × 100%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45152" y="23225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45152" y="2322576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2340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momentum_signal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91456" y="25237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compute_momentum_signal() 7d vs 30d avg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45152" y="27797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45152" y="2779776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seasonal_phase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91456" y="29809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| trough | normal from monthly profile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45152" y="32369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45152" y="3236976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2552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anomaly_events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91456" y="34381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spike/crash detections (90d window)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36941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5152" y="3694176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3712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forecast_7d/30d/90d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91456" y="38953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Prophet/XGBoost predicted price + CI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45152" y="4151376"/>
            <a:ext cx="4224528" cy="402336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45152" y="4151376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4169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confidence_score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91456" y="435254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training depth + staleness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4626864"/>
            <a:ext cx="8631936" cy="274320"/>
          </a:xfrm>
          <a:prstGeom prst="rect">
            <a:avLst/>
          </a:prstGeom>
          <a:solidFill>
            <a:srgbClr val="0A1A0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4626864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Boundary  ·  Gemini NEVER generates or modifies these values  ·  It only reasons ABOUT them in natural language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1286206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4572000" cy="3657600"/>
          </a:xfrm>
          <a:prstGeom prst="ellipse">
            <a:avLst/>
          </a:prstGeom>
          <a:solidFill>
            <a:srgbClr val="3B82F6">
              <a:alpha val="1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371600"/>
            <a:ext cx="50292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07  —  GROUNDING PIPELINE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Generation Pipeline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94A3B8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16736"/>
            <a:ext cx="54864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/advisor/ask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49424" y="1618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316736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15184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80944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80944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Injection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80560" y="1618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1316736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Memory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Crop/state inherit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11696" y="16184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1316736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316736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77456" y="138988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77456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43216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 Classify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43216" y="17556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245059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+ Analytics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 data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249424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87168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87168" y="2450592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5184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80944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Council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80944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specialist agents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80560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18304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18304" y="245059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PromptBuilder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12080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11696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2450592"/>
            <a:ext cx="1956816" cy="80467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949440" y="245059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77456" y="25237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77456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43216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Narrates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443216" y="28895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temp=0.2, budget=0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462272" y="21579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80560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11696" y="27523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56032" y="3419856"/>
            <a:ext cx="2761488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419856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3419856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22960" y="3474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Hallucination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" y="371246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receives exact DuckDB values — cannot contradict pre-injected facts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00400" y="3419856"/>
            <a:ext cx="2761488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00400" y="3419856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28416" y="3419856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3767328" y="3474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Sub-5ms Guardrails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767328" y="371246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Off-domain queries rejected before Gemini is ever invoked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44768" y="3419856"/>
            <a:ext cx="2761488" cy="822960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144768" y="3419856"/>
            <a:ext cx="5486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72784" y="3419856"/>
            <a:ext cx="40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6711696" y="3474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711696" y="371246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reasoning_trace captures every stage: crop→intent→trend→confidence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56032" y="4389120"/>
            <a:ext cx="8631936" cy="274320"/>
          </a:xfrm>
          <a:prstGeom prst="rect">
            <a:avLst/>
          </a:prstGeom>
          <a:solidFill>
            <a:srgbClr val="0A1A1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" y="4389120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AdvisorResponse {answer, intent, sources, grounded:true, error_type, latency_ms, agent_insights, reasoning_trace}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56032" y="4681728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"Gemini narrates ABOUT the data — it does not create the data"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65173609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19088" y="1828800"/>
            <a:ext cx="45720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016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08  —  PROMPT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 &amp; Persona Framing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187952" cy="3383280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3383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167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ANATOMY (Section Order)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27632"/>
            <a:ext cx="3877056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80136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17739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Framing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95681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communication style set FIRST — frames everything after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2336" y="216712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1396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32257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are an expert agricultural market analyst for South India...'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" y="253288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5054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Section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68833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price, 30d range, trend direction, momentum signal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2336" y="289864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287121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05409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 / 90d predictions with confidence intervals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2336" y="326440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23697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Signals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341985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/ CONTRADICTION / MIXED agent signal pairs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2336" y="363016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36027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Narrative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78561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reliability: training depth, CV, staleness, tier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02336" y="399592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96849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+ Historical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415137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Spike/crash events, AGMARKNET historical comparisons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" y="4361688"/>
            <a:ext cx="256032" cy="256032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361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3342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Style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4517136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question + output format constraints + domain lock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26864" y="126187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ANALYST PERSONAS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26864" y="1554480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155448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554480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193792" y="1645920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63056" y="16276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action-oriented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93792" y="190195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timing · local mandi pricing · perishability · when to sell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26864" y="2359152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26864" y="2359152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2359152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193792" y="2450592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2450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63056" y="24323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Commercial, momentum-focused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93792" y="270662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7–30d price trajectory · volatility as opportunity · bulk decision timing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26864" y="3163824"/>
            <a:ext cx="424281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26864" y="3163824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3163824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193792" y="3255264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93792" y="3255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63056" y="323697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Supply-chain, cost-conscious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93792" y="35112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timing · bulk pricing · cold storage · cross-market sourcing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26864" y="3968496"/>
            <a:ext cx="4261104" cy="665226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26864" y="3968496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3968496"/>
            <a:ext cx="420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193792" y="4059936"/>
            <a:ext cx="91440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9379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163056" y="40416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brief, statistical rigour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193792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CV citation · structured Outlook → Risk → Recommendation format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37744" y="4688586"/>
            <a:ext cx="8631936" cy="256032"/>
          </a:xfrm>
          <a:prstGeom prst="rect">
            <a:avLst/>
          </a:prstGeom>
          <a:solidFill>
            <a:srgbClr val="140A0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4904" y="4701312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Domain Lock: coding, politics, crypto, medical, legal, recipes, entertainment  →  ALL rejected by guardrails before Gemini is invoked  ·  Response time: ~4ms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05901206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45720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09  —  RAG-LIKE GROUNDING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Grounding vs Hallucination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1389888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43584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171907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09928" y="16916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252728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243584"/>
            <a:ext cx="54864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122612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84248" y="1731816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85616" y="167106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05072" y="1243584"/>
            <a:ext cx="1719072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14216" y="1243584"/>
            <a:ext cx="54864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5928" y="120700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050792" y="1691640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PromptContext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Assembly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88152" y="16916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71616" y="1227816"/>
            <a:ext cx="1463040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67152" y="1227816"/>
            <a:ext cx="54864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12344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40736" y="1764792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 Flash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53844" y="16384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09426" y="1221120"/>
            <a:ext cx="1279260" cy="1097280"/>
          </a:xfrm>
          <a:prstGeom prst="rect">
            <a:avLst/>
          </a:prstGeom>
          <a:solidFill>
            <a:srgbClr val="0D1A2E"/>
          </a:solidFill>
          <a:ln w="1778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14628" y="123444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12435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87008" y="1746504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505456"/>
            <a:ext cx="4206240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2505456"/>
            <a:ext cx="54864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25603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🔎  Traditional RAG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2336" y="2871216"/>
            <a:ext cx="3877056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29443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unstructured text chunks from vector DB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" y="323697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relevance — cosine similarity only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" y="352958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risk: LLM may ignore retrieved context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624" y="382219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may miss critical numeric values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" y="4114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for knowledge-base Q&amp;A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2505456"/>
            <a:ext cx="4224528" cy="2194560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2505456"/>
            <a:ext cx="54864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560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AgroPrice Deterministic Grounding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91456" y="2871216"/>
            <a:ext cx="3895344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29443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exact SQL results from DuckDB (zero ambiguity)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9744" y="32369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numeric values: price=₹1,234/qtl, CV=28.4%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9744" y="35295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hallucination: Gemini only narrates pre-injected data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9744" y="38221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context: 12 typed PromptContext fields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9744" y="411480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financial time-series narration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4791456"/>
            <a:ext cx="8631936" cy="237744"/>
          </a:xfrm>
          <a:prstGeom prst="rect">
            <a:avLst/>
          </a:prstGeom>
          <a:solidFill>
            <a:srgbClr val="0A1A1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791456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AgroPrice AI retrieves structured numeric facts, not prose chunks — Gemini narrates facts it cannot contradict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769396428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45720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45720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10  —  MULTI-AGENT COUNCIL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7-Agent Specialist Council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53312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261872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 Analyst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07008" y="1536192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1536192"/>
            <a:ext cx="804672" cy="10972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645920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22%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08960" y="1298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direction from momentum + 30d vs 90d rate comparison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15361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STRONG_BULLISH / BULLISH / MILD_BULLISH / NEUTRAL / BEARISH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55664" y="1353312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3533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STRONG_BULLISH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1783080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1783080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1874520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178308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7008" y="1819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Analyst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07008" y="2057400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008" y="2057400"/>
            <a:ext cx="658368" cy="10972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2167128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18%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08960" y="1819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CV + anomaly cluster count + tier risk scoring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20574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LOW_RISK / MODERATE / HIGH_RISK / EXTREME_RISK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55664" y="1874520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18745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LOW_RISK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2304288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2304288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2395728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2304288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07008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Seasonal Analyst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207008" y="2578608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07008" y="2578608"/>
            <a:ext cx="548640" cy="109728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07008" y="268833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15%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08960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phase positioning: peak / trough / lean / normal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108960" y="2578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DEEP_PEAK / PEAK_SEASON / LEAN / DEEP_TROUGH / NORMAL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455664" y="2395728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55664" y="239572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DEEP_PEAK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825496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282549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2916936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" y="282549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07008" y="2862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Supply/Demand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207008" y="3099816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07008" y="3099816"/>
            <a:ext cx="548640" cy="10972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07008" y="320954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15%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108960" y="2862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Price-vs-year-average inference (no arrival data in AGMARKNET)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108960" y="30998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/ BEARISH / NEUTRAL (inferred from momentum)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455664" y="2916936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29169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BULLISH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6032" y="3346704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" y="3346704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4048" y="3438144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9808" y="3346704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207008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 Analyst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207008" y="3621024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07008" y="3621024"/>
            <a:ext cx="438912" cy="109728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07008" y="373075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12%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108960" y="3383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patterns, recent price standard deviation analysis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108960" y="36210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Risk + Confidence engines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455664" y="3438144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55664" y="343814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Inputs to Risk + Confidence engines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3867912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032" y="3867912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4048" y="3959352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9808" y="3867912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207008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 Analyst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207008" y="4142232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07008" y="4142232"/>
            <a:ext cx="365760" cy="109728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07008" y="4251960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10%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108960" y="3904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 from combined signal synthesis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108960" y="41422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 (weighted composite)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455664" y="3959352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55664" y="39593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0–100 (weighted composite)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56032" y="4389120"/>
            <a:ext cx="8631936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6032" y="4389120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4048" y="4480560"/>
            <a:ext cx="292608" cy="292608"/>
          </a:xfrm>
          <a:prstGeom prst="ellipse">
            <a:avLst/>
          </a:prstGeom>
          <a:solidFill>
            <a:srgbClr val="05081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49808" y="438912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207008" y="4425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Reliability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207008" y="4663440"/>
            <a:ext cx="1828800" cy="109728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207008" y="4663440"/>
            <a:ext cx="292608" cy="109728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07008" y="4773168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8%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108960" y="44256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depth (rows), data staleness, model tier (A/B/C/D)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3108960" y="46634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 + confidence label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455664" y="4480560"/>
            <a:ext cx="2359152" cy="292608"/>
          </a:xfrm>
          <a:prstGeom prst="roundRect">
            <a:avLst>
              <a:gd name="adj" fmla="val 37500"/>
            </a:avLst>
          </a:prstGeom>
          <a:solidFill>
            <a:srgbClr val="94A3B8">
              <a:alpha val="22000"/>
            </a:srgbClr>
          </a:solidFill>
          <a:ln w="1016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55664" y="44805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Reliability score + confidence label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56032" y="4937760"/>
            <a:ext cx="8631936" cy="201168"/>
          </a:xfrm>
          <a:prstGeom prst="rect">
            <a:avLst/>
          </a:prstGeom>
          <a:solidFill>
            <a:srgbClr val="0F204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" y="4937760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→ CouncilResult { dominant_view, minority_view, contradiction_detected, consensus_strength, dissent_agents, weighted_recommendation }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85895049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5029200" cy="4572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11  —  CONSENSUS ENGINE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Consensus &amp; Correlation Intelligence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4187952" cy="3383280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3167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CONSENSUS SCORING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27632"/>
            <a:ext cx="3858768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81051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177393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Verdicts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19933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7 agents returns: stance (BULLISH/BEARISH/etc.), confidence score (0–100), and reasoning bullets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2336" y="2395728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35915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578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weighted_score = Σ(agent.confidence × agent.weight) / Σ weights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weights sum to 1.00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" y="2980944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294436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Strength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31638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ratio: if 5/7 agents agree = 71% consensus. Below 40% triggers contradiction_detected=True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" y="3566160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35295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Collapse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7490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CV&gt;45% AND anomaly_count&gt;3 AND trend contradicts season → confidence collapses to 'low' regardless of scores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" y="4151376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411480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43342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SELL_NOW / SELL_SOON / HOLD / WAIT / WATCH based on weighted vote + opportunity score + seasonal timing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45152" y="1261872"/>
            <a:ext cx="4224528" cy="3383280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1261872"/>
            <a:ext cx="54864" cy="3383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3167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SIGNAL TYPES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1627632"/>
            <a:ext cx="3895344" cy="0"/>
          </a:xfrm>
          <a:prstGeom prst="line">
            <a:avLst/>
          </a:prstGeom>
          <a:noFill/>
          <a:ln w="1016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1755648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755648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0368" y="1828800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4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230368" y="206654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momentum + peak season → double confirmation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30368" y="224942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Gemini's confidence in recommendation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73168" y="2523744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523744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30368" y="2596896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4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596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230368" y="2834640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trend + peak season → season should push prices up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30368" y="3017520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advises caution; acknowledges conflicting signals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73168" y="3291840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291840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30368" y="3364992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F59E0B">
              <a:alpha val="24000"/>
            </a:srgbClr>
          </a:solidFill>
          <a:ln w="1016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3364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230368" y="360273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+ high volatility → opportunity but risky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230368" y="378561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presents both sides without false certainty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73168" y="4059936"/>
            <a:ext cx="3986784" cy="713232"/>
          </a:xfrm>
          <a:prstGeom prst="rect">
            <a:avLst/>
          </a:prstGeom>
          <a:solidFill>
            <a:srgbClr val="0F204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059936"/>
            <a:ext cx="347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230368" y="4133088"/>
            <a:ext cx="118872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4000"/>
            </a:srgbClr>
          </a:solidFill>
          <a:ln w="1016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0368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CONTEXT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230368" y="437083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anomalies alongside upward trend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30368" y="455371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contextualizes anomalies historically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4736592"/>
            <a:ext cx="8631936" cy="237744"/>
          </a:xfrm>
          <a:prstGeom prst="rect">
            <a:avLst/>
          </a:prstGeom>
          <a:solidFill>
            <a:srgbClr val="0F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4736592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 signals injected into PromptContext.correlation_signals → Gemini cites them explicitly in advisory ('confirming', 'however', 'despite') for nuanced narration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60409941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371600"/>
            <a:ext cx="5486400" cy="4114800"/>
          </a:xfrm>
          <a:prstGeom prst="ellipse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5029200" cy="36576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12  —  EXPLAINABLE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 (XAI) in Agriculture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8631936" cy="43891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43584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43584"/>
            <a:ext cx="8357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XAI? In agriculture, a wrong recommendation means real crop loss, unsold inventory, or wrong harvest timing. Farmers need to TRUST the AI's reasoning — not just its verdict.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7922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DECISION AUDIT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084832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084832"/>
            <a:ext cx="5486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3055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0848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22576" y="208483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 DuckDB price → verified numeric source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87168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487168"/>
            <a:ext cx="54864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532888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48716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22576" y="248716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functions → volatility, momentum, season, anomalies, quality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889504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889504"/>
            <a:ext cx="5486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935224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28895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Verdicts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22576" y="288950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 agents → individual stances with confidence scores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291840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291840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337560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2918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22576" y="329184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Cross-agent signal alignment → CONFIRMING / CONTRADICTION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694176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694176"/>
            <a:ext cx="54864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739896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369417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22576" y="3694176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Confidence engine → contributor / detractor bullets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4096512"/>
            <a:ext cx="6217920" cy="365760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096512"/>
            <a:ext cx="54864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142232"/>
            <a:ext cx="274320" cy="274320"/>
          </a:xfrm>
          <a:prstGeom prst="ellipse">
            <a:avLst/>
          </a:prstGeom>
          <a:solidFill>
            <a:srgbClr val="050816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409651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22576" y="409651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crop|state|intent|trend|risk|seasonal|confidence|correlations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56832" y="1792224"/>
            <a:ext cx="2212848" cy="2523744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56832" y="1792224"/>
            <a:ext cx="54864" cy="2523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184708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XAI Features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03136" y="2139696"/>
            <a:ext cx="1920240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 Panel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03136" y="2523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Council 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03136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Engine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03136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Signals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03136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 Bar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03136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Chips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2000" y="4498848"/>
            <a:ext cx="8631936" cy="585216"/>
          </a:xfrm>
          <a:prstGeom prst="rect">
            <a:avLst/>
          </a:prstGeom>
          <a:solidFill>
            <a:srgbClr val="0A0D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3512" y="4550832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EXAMPLE (injected into every advisory response)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10896" y="4754880"/>
            <a:ext cx="8266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"crop: Tomato  |  state: Karnataka  |  intent: price_now  |  trend: BULLISH (72%)  |  risk: MODERATE (58%)  |  seasonal: PEAK_SEASON (91%)  |  confidence: high (74%)  |  correlations: 2 CONFIRMING"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1097160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50292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371600"/>
            <a:ext cx="5029200" cy="36576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06B6D4">
              <a:alpha val="20000"/>
            </a:srgbClr>
          </a:solidFill>
          <a:ln w="1016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13  —  STREAMING INFERENCE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Streaming &amp; Real-Time Inference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async generator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0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01368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01368" y="1261872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11096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/ask/stream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SSE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91256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46704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46704" y="126187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_prepare_query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_context()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26187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generate_stream()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1928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37376" y="1261872"/>
            <a:ext cx="1335024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7376" y="126187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129844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chunks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 events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26680" y="15636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27848" y="1261872"/>
            <a:ext cx="1225296" cy="804672"/>
          </a:xfrm>
          <a:prstGeom prst="rect">
            <a:avLst/>
          </a:prstGeom>
          <a:solidFill>
            <a:srgbClr val="0F204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24392" y="126187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284458"/>
            <a:ext cx="1170432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'typewriter'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PROTOCOL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505456"/>
            <a:ext cx="8631936" cy="713232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505456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2596896"/>
            <a:ext cx="731520" cy="201168"/>
          </a:xfrm>
          <a:prstGeom prst="roundRect">
            <a:avLst>
              <a:gd name="adj" fmla="val 5454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596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88720" y="2560320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{"type": "token", "token": "Current Tomato prices show..."}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88720" y="2852928"/>
            <a:ext cx="7534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for EVERY chunk received from Gemini stream — appended to message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3273552"/>
            <a:ext cx="8631936" cy="713232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27355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364992"/>
            <a:ext cx="73152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2000"/>
            </a:srgbClr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364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88720" y="3328416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{"type": "done", "intent": "price_now", "grounded": true, "latency_ms": 2341, "agent_insights": {...}, "reasoning_trace": "..."}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88720" y="3621024"/>
            <a:ext cx="7534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ONCE when stream ends — triggers executive summary cards + reasoning panel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041648"/>
            <a:ext cx="8631936" cy="713232"/>
          </a:xfrm>
          <a:prstGeom prst="rect">
            <a:avLst/>
          </a:prstGeom>
          <a:solidFill>
            <a:srgbClr val="0D1A2E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4041648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" y="4133088"/>
            <a:ext cx="73152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133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88720" y="4096512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{"type": "error", "error_type": "quota_exceeded", "message": "..."}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88720" y="4389120"/>
            <a:ext cx="7534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pipeline failure — frontend shows GeminiErrorBadge with actionable message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4828032"/>
            <a:ext cx="8631936" cy="237744"/>
          </a:xfrm>
          <a:prstGeom prst="rect">
            <a:avLst/>
          </a:prstGeom>
          <a:solidFill>
            <a:srgbClr val="080F1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828032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AbortController: clearing chat or sending a new message cancels the in-flight SSE stream instantly  ·  Vite proxy bypassed: streaming uses native fetch() directly to :8001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88724483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486400" cy="4572000"/>
          </a:xfrm>
          <a:prstGeom prst="ellipse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0"/>
            <a:ext cx="4572000" cy="3657600"/>
          </a:xfrm>
          <a:prstGeom prst="ellipse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 ·  14  —  AGRICULTURAL AI ETHICS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Responsible AI in Agriculture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solidFill>
            <a:srgbClr val="18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261872"/>
            <a:ext cx="54864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61872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HALLUCINATION IN AGRICULTURE = DIRECT FINANCIAL HARM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8266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₹200/kg Tomato price could cause a farmer to hold crops until they perish, or sell when they should hold — irreversible real-world consequence.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810512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810512"/>
            <a:ext cx="54864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" y="188366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Deterministic Grounding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249424"/>
            <a:ext cx="3968496" cy="0"/>
          </a:xfrm>
          <a:prstGeom prst="line">
            <a:avLst/>
          </a:prstGeom>
          <a:noFill/>
          <a:ln w="1016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22576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Gemini uses comes from DuckDB — not generated from imagination. PromptContext fields are typed and verified before injection.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1728" y="1810512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810512"/>
            <a:ext cx="54864" cy="1261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21808" y="188366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 Isolation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9744" y="2249424"/>
            <a:ext cx="3968496" cy="0"/>
          </a:xfrm>
          <a:prstGeom prst="line">
            <a:avLst/>
          </a:prstGeom>
          <a:noFill/>
          <a:ln w="1016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322576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block non-agricultural queries at millisecond speed (before Gemini is invoked). Coding, crypto, medical, political topics are categorically rejected.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163824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163824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6112" y="323697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" y="3602736"/>
            <a:ext cx="3968496" cy="0"/>
          </a:xfrm>
          <a:prstGeom prst="line">
            <a:avLst/>
          </a:prstGeom>
          <a:noFill/>
          <a:ln w="1016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675888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includes a reasoning_trace (pipe-separated decision log), agent verdicts, confidence scores, and correlation signals — fully traceable.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163824"/>
            <a:ext cx="4242816" cy="1261872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163824"/>
            <a:ext cx="54864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21808" y="323697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Structured Uncertainty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9744" y="3602736"/>
            <a:ext cx="3968496" cy="0"/>
          </a:xfrm>
          <a:prstGeom prst="line">
            <a:avLst/>
          </a:prstGeom>
          <a:noFill/>
          <a:ln w="1016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675888"/>
            <a:ext cx="4005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insufficient, the system acknowledges it honestly ('data quality is low for this crop-state pair') rather than generating confident-sounding fiction.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4553712"/>
            <a:ext cx="8631936" cy="493776"/>
          </a:xfrm>
          <a:prstGeom prst="rect">
            <a:avLst/>
          </a:prstGeom>
          <a:solidFill>
            <a:srgbClr val="0A1A1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572000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Responsible AI Commitment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" y="4773168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output · Structured uncertainty · Explainable decisions · Agricultural domain lock · Zero LLM-invented numbers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390167390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20  ·  LIVE 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Intelligence Dashboard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agricultural price analytics · AGMARKNET 2015–2026 · 5 South Indian states · 27 crops tracked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30200" dist="50800" dir="16200000" algn="bl" rotWithShape="0">
              <a:srgbClr val="3B82F6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95097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95097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9784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TOTAL RECORDS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309360" y="1152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48,229,507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49961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1527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CROPS TRACKED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3093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380+ varieties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204825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2075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STATES COVERED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309360" y="22494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 · KA · AP · TS · KL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17920" y="2596896"/>
            <a:ext cx="2542032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0" y="259689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26243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MARKET STRESS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09360" y="27980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100/100 — Extreme Alert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AGMARKNET Records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2026-04-21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— Live Ticker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Priced: Banana ₹4,074/qtl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99096367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21  ·  MARKET MAP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Price Intelligence — South India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spatial analytics · State-level price heatmap · Regional spread analysis · Crop × State × Metric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50392"/>
            <a:ext cx="8668512" cy="377647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81000" dist="50800" dir="16200000" algn="bl" rotWithShape="0">
              <a:srgbClr val="06B6D4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HIGHEST PRICE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Kerala ₹3,184/qtl (+22%)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LOWEST PRICE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Telangana ₹1,070/qtl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STRONGEST TREND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Telangana +77.7% uptrend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📐 REGIONAL SPREAD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198% Kerala vs Telangana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Tomato · Avg Price (30D)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South Indian States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Spatial Intel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leads at ₹3,184/qtl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17853931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22  ·  FORECAST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Price Forecasting Engine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 + Sparse-Trend models · 7/30/90-day horizons · Tier A/B/C/D crop registry · 27 crops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81000" dist="50800" dir="16200000" algn="bl" rotWithShape="0">
              <a:srgbClr val="10B981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AI CONFIDENCE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78/100 — Mean across 27 crops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⚖️ MARKET STABILITY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48/100 — Inverse of mean CV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OPPORTUNITY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74/100 — 10 rising markets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STRESS METER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100/100 — 68 anomaly events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· 4,050 Training Days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— 90-Day Horizon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AI Market Pulse · LIVE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 — Beans +50.2%/7d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06099939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23  ·  AI VISUAL REASONING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Visual Reasoning — Live Market Signal Extraction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4-dimension signal analysis · Generated from live DuckDB metrics · Anomaly detection · Volatility · Coverage · Seasonality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41248"/>
            <a:ext cx="8668512" cy="3785616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30200" dist="50800" dir="16200000" algn="bl" rotWithShape="0">
              <a:srgbClr val="8B5CF6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_signa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HIGH VOLATILITY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Detected · 83% confidence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MARKET COVERAGE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· 92% continuity score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SEASONAL RECOVERY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Underway · 75% signal strength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SEASONAL CYCLE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Pronounced · 102% swing · 85%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signals — generated from live metrics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71% CV · Momentum +29.4%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Index 79/100 · Anomaly Count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· Karnataka · AI Reasoning Module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9889668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EF4444">
              <a:alpha val="3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24  ·  AUTONOMOUS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Multi-Agent Market Monitor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4B · Regime detection · Escalation engine · Priority scoring · Bloomberg-style executive synthesis · Phase 5 Council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30200" dist="50800" dir="16200000" algn="bl" rotWithShape="0">
              <a:srgbClr val="EF4444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advisor_monit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MARKET REGIME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CRISIS — 5 crops affected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ESCALATIONS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signals require attention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SHOCK PROBABILITY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 in next 30 days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AGENTS ACTIVE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4B+5 — 7-agent council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CRITICAL: Tomato (Karnataka) — Panic / Volatility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Onion (Tamil Nadu) — Panic / Volatility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 — High Risk Consensus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Phase 5 — Bloomberg Style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16093044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F59E0B">
              <a:alpha val="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25  ·  DATA STORYTELLING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Data Storytelling — Market Story Mode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 briefing mode · Seasonal pattern narration · Cross-state snapshot · Historical behaviour explanation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30200" dist="50800" dir="16200000" algn="bl" rotWithShape="0">
              <a:srgbClr val="F59E0B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STORY MODE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4-part AI analyst briefing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SEASONAL PATTERN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Trough Season · -32.6% vs avg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5-STATE SNAPSHOT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₹1,070 – ₹3,184 range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NARRATIVE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Auto-generated from real data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Story Mode · Tomato · Karnataka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PAST: How this market behaved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Months Jul/Jun/Nov (+60.1%)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Months Mar/Apr/Feb (-41.5%)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34777200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26  ·  AI ADVISOR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Conversational AI Advisor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Grounded on AGMARKNET data · 4 analyst personas · Session memory · Voice input/output · SSE streaming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81000" dist="50800" dir="16200000" algn="bl" rotWithShape="0">
              <a:srgbClr val="10B981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advisor_chat_zo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✦ GEMINI 2.5 FLASH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· Gemini-powered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VIEW MODES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 · Trader · Wholesale · Analyst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SESSION MEMORY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Crop/state inheritance · 2h TTL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🎙️ VOICE ENABLED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 input + TTS output (en-IN)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Zone 3 · LIVE AI WORKSPACE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Alerts: 10 events · Last 90 days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Rail — Tomato +29.4% · Alert Active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Domain-locked to agriculture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49584395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27  ·  REPORTS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AI-Generated Intelligence Reports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intelligence · PDF + Excel export · AI Report Intelligence Studio · Farmer · Trader · Analyst modes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81000" dist="50800" dir="16200000" algn="bl" rotWithShape="0">
              <a:srgbClr val="06B6D4">
                <a:alpha val="25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repo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DATASET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AGMARKNET records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COVERAGE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crops · 5 states · 11 years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EXPORT FORMATS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(ReportLab) + Excel (openpyxl)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REPORT TEMPLATES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· Seasonal · Coverage · Forecast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Report Intelligence Studio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Reliability Assessed — All 27 Crops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V2.7 · AGROPRICE AI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Forecast Models — Prophet · 30/60/90-day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69834823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28  ·  EXPLAINABLE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 AI — Auditable Decision Pipeline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reached this forecast · 7-stage transparent pipeline · Every decision traceable from raw data to final output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8668512" cy="3822192"/>
          </a:xfrm>
          <a:prstGeom prst="rect">
            <a:avLst/>
          </a:prstGeom>
          <a:ln w="12700">
            <a:solidFill>
              <a:srgbClr val="1E3A5F">
                <a:alpha val="45000"/>
              </a:srgbClr>
            </a:solidFill>
            <a:prstDash val="solid"/>
          </a:ln>
          <a:effectLst>
            <a:outerShdw blurRad="330200" dist="50800" dir="16200000" algn="bl" rotWithShape="0">
              <a:srgbClr val="8B5CF6">
                <a:alpha val="22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forecast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81344" y="95097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81344" y="950976"/>
            <a:ext cx="36576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97840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1️⃣ DATA INGESTION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72784" y="11521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AGMARKNET records scanned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81344" y="149961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81344" y="1499616"/>
            <a:ext cx="36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152704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FORECAST ENGINE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72784" y="170078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· 30-day projection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81344" y="204825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81344" y="2048256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07568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CONFIDENCE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72784" y="224942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weighted factors · 79/100 Good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81344" y="2596896"/>
            <a:ext cx="2578608" cy="457200"/>
          </a:xfrm>
          <a:prstGeom prst="rect">
            <a:avLst/>
          </a:prstGeom>
          <a:solidFill>
            <a:srgbClr val="000000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2596896"/>
            <a:ext cx="36576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26243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FINAL FORECAST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279806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Rendered with full diagnostics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617720"/>
            <a:ext cx="2093976" cy="210312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→ Cleaning → Tier Classification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2316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49631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Engine → Confidence Engine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4515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Engine → AI Narrator → Final Forecast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20840" y="4617720"/>
            <a:ext cx="2093976" cy="210312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93992" y="4617720"/>
            <a:ext cx="1965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end-to-end · No black boxes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51130601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3657600" cy="2743200"/>
          </a:xfrm>
          <a:prstGeom prst="ellipse">
            <a:avLst/>
          </a:prstGeom>
          <a:solidFill>
            <a:srgbClr val="10B981">
              <a:alpha val="4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828800"/>
            <a:ext cx="3657600" cy="2743200"/>
          </a:xfrm>
          <a:prstGeom prst="ellipse">
            <a:avLst/>
          </a:prstGeom>
          <a:solidFill>
            <a:srgbClr val="3B82F6">
              <a:alpha val="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"/>
            <a:ext cx="2926080" cy="210312"/>
          </a:xfrm>
          <a:prstGeom prst="roundRect">
            <a:avLst>
              <a:gd name="adj" fmla="val 5217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29  ·  SYSTEM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2926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— Complete Intelligence System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74320" y="6400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AGMARKNET data to Gemini-grounded AI advisor · End-to-end agricultural intelligence platform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877824"/>
            <a:ext cx="4425696" cy="1810512"/>
          </a:xfrm>
          <a:prstGeom prst="rect">
            <a:avLst/>
          </a:prstGeom>
          <a:ln w="15240">
            <a:solidFill>
              <a:srgbClr val="3B82F6">
                <a:alpha val="45000"/>
              </a:srgbClr>
            </a:solidFill>
            <a:prstDash val="solid"/>
          </a:ln>
          <a:effectLst>
            <a:outerShdw blurRad="254000" dist="50800" dir="16200000" algn="bl" rotWithShape="0">
              <a:srgbClr val="3B82F6">
                <a:alpha val="18000"/>
              </a:srgbClr>
            </a:outerShdw>
          </a:effectLst>
        </p:spPr>
      </p:sp>
      <p:pic>
        <p:nvPicPr>
          <p:cNvPr id="10" name="Image 0" descr="D:/mca/2nd semester/GEN AI/EL Project/AgroPrice-AI/presentation/screenshots/cropped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7744" y="914400"/>
            <a:ext cx="4352544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" y="23774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3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23774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Dashboard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63440" y="877824"/>
            <a:ext cx="4425696" cy="1810512"/>
          </a:xfrm>
          <a:prstGeom prst="rect">
            <a:avLst/>
          </a:prstGeom>
          <a:ln w="15240">
            <a:solidFill>
              <a:srgbClr val="06B6D4">
                <a:alpha val="45000"/>
              </a:srgbClr>
            </a:solidFill>
            <a:prstDash val="solid"/>
          </a:ln>
          <a:effectLst>
            <a:outerShdw blurRad="254000" dist="50800" dir="16200000" algn="bl" rotWithShape="0">
              <a:srgbClr val="06B6D4">
                <a:alpha val="18000"/>
              </a:srgbClr>
            </a:outerShdw>
          </a:effectLst>
        </p:spPr>
      </p:sp>
      <p:pic>
        <p:nvPicPr>
          <p:cNvPr id="14" name="Image 1" descr="D:/mca/2nd semester/GEN AI/EL Project/AgroPrice-AI/presentation/screenshots/cropped/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0016" y="914400"/>
            <a:ext cx="4352544" cy="17373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91456" y="23774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06B6D4">
              <a:alpha val="3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9744" y="23774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Intelligence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01168" y="2706624"/>
            <a:ext cx="4425696" cy="1810512"/>
          </a:xfrm>
          <a:prstGeom prst="rect">
            <a:avLst/>
          </a:prstGeom>
          <a:ln w="15240">
            <a:solidFill>
              <a:srgbClr val="8B5CF6">
                <a:alpha val="45000"/>
              </a:srgbClr>
            </a:solidFill>
            <a:prstDash val="solid"/>
          </a:ln>
          <a:effectLst>
            <a:outerShdw blurRad="254000" dist="50800" dir="16200000" algn="bl" rotWithShape="0">
              <a:srgbClr val="8B5CF6">
                <a:alpha val="18000"/>
              </a:srgbClr>
            </a:outerShdw>
          </a:effectLst>
        </p:spPr>
      </p:sp>
      <p:pic>
        <p:nvPicPr>
          <p:cNvPr id="18" name="Image 2" descr="D:/mca/2nd semester/GEN AI/EL Project/AgroPrice-AI/presentation/screenshots/cropped/forecast_pipelin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7744" y="2743200"/>
            <a:ext cx="4352544" cy="17373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9184" y="42062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3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7472" y="42062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Decision Pipeline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4663440" y="2706624"/>
            <a:ext cx="4425696" cy="1810512"/>
          </a:xfrm>
          <a:prstGeom prst="rect">
            <a:avLst/>
          </a:prstGeom>
          <a:ln w="15240">
            <a:solidFill>
              <a:srgbClr val="EF4444">
                <a:alpha val="45000"/>
              </a:srgbClr>
            </a:solidFill>
            <a:prstDash val="solid"/>
          </a:ln>
          <a:effectLst>
            <a:outerShdw blurRad="254000" dist="50800" dir="16200000" algn="bl" rotWithShape="0">
              <a:srgbClr val="EF4444">
                <a:alpha val="18000"/>
              </a:srgbClr>
            </a:outerShdw>
          </a:effectLst>
        </p:spPr>
      </p:sp>
      <p:pic>
        <p:nvPicPr>
          <p:cNvPr id="22" name="Image 3" descr="D:/mca/2nd semester/GEN AI/EL Project/AgroPrice-AI/presentation/screenshots/cropped/advisor_monitor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0016" y="2743200"/>
            <a:ext cx="4352544" cy="17373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791456" y="420624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EF4444">
              <a:alpha val="3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09744" y="42062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Monitor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4480560" y="914400"/>
            <a:ext cx="0" cy="3566160"/>
          </a:xfrm>
          <a:prstGeom prst="line">
            <a:avLst/>
          </a:prstGeom>
          <a:noFill/>
          <a:ln w="10160">
            <a:solidFill>
              <a:srgbClr val="2A4A7A">
                <a:alpha val="5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7744" y="2706624"/>
            <a:ext cx="8631936" cy="0"/>
          </a:xfrm>
          <a:prstGeom prst="line">
            <a:avLst/>
          </a:prstGeom>
          <a:noFill/>
          <a:ln w="10160">
            <a:solidFill>
              <a:srgbClr val="2A4A7A">
                <a:alpha val="5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329184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Records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1993392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2048256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Crops · 5 States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3712464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3767328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 – 2026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5431536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5486400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2.5 Flash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7150608" y="4718304"/>
            <a:ext cx="1664208" cy="201168"/>
          </a:xfrm>
          <a:prstGeom prst="rect">
            <a:avLst/>
          </a:prstGeom>
          <a:solidFill>
            <a:srgbClr val="0D1A2E"/>
          </a:solidFill>
          <a:ln w="1397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7205472" y="471830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 · Decision AI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048151526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30  ·  QUANTITATIVE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 — AgroPrice AI at Scale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performance across data depth · model accuracy · system reliability · intelligence coverage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86968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233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Records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2015–2026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37744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77440" y="886968"/>
            <a:ext cx="45720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0545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 Varieties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545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A/B/C/D registry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48056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886968"/>
            <a:ext cx="45720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0857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South Indian States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857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· KA · AP · KL · TS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583680" y="886968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886968"/>
            <a:ext cx="45720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941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Yrs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11696" y="1491569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Depth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11696" y="1714317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2015 – Apr 2026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7432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020824"/>
            <a:ext cx="45720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0233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233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 + Sparse-Trend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37744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77440" y="2020824"/>
            <a:ext cx="45720" cy="10607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545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50545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Council Agents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0545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Weighted consensus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48056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0" y="2020824"/>
            <a:ext cx="45720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0857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Continuity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0857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consistency score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583680" y="2020824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0" y="2020824"/>
            <a:ext cx="45720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207568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78/100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711696" y="2625425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Confidence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11696" y="2848173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27 crops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7432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3154680"/>
            <a:ext cx="45720" cy="10607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&lt;3s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40233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Response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0233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 delivery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37744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377440" y="3154680"/>
            <a:ext cx="45720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0545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250545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Types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0545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→ Panic regime map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48056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480560" y="3154680"/>
            <a:ext cx="45720" cy="1060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0857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460857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Anomalies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0857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live dataset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583680" y="3154680"/>
            <a:ext cx="2048256" cy="1060704"/>
          </a:xfrm>
          <a:prstGeom prst="rect">
            <a:avLst/>
          </a:prstGeom>
          <a:solidFill>
            <a:srgbClr val="0D1A2E"/>
          </a:solidFill>
          <a:ln w="1651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83680" y="3154680"/>
            <a:ext cx="45720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11696" y="320954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6711696" y="3759281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Phases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11696" y="3982029"/>
            <a:ext cx="18653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 · MCA Project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· 2015–2026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Query Engine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XGBoost · Sparse-Trend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SSE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7-Agent Council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93121346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31  ·  QUALITATIVE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Quality — Intelligence, Integrity &amp; Experience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guardrails · explainability · user experience · agentic design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86968"/>
            <a:ext cx="36576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86968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93268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124712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Gemini response is grounded on DuckDB facts. The LLM narrates data — it never generates prices, forecasts, or volatility values independently.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1152144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3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1521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746504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746504"/>
            <a:ext cx="36576" cy="7680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746504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179222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1984248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guardrails block 100% of off-topic queries (coding, finance, medical, politics) before Gemini is ever invoked. &lt;4ms rejection latency.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0" y="2011680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06B6D4">
              <a:alpha val="3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606040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606040"/>
            <a:ext cx="36576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06040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265176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Personas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2843784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audience-specific modes — Farmer (plain language), Trader (momentum focus), Wholesale (procurement), Analyst (Bloomberg-style statistical brief).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0" y="287121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3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87121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465576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465576"/>
            <a:ext cx="36576" cy="768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65576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" y="351129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Contextual Memory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370332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2h TTL memory. Crop/state inheritance across turns. Topic chain tracks conversation arc. Redis opt-in for multi-process deployments.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0" y="3730752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8B5CF6">
              <a:alpha val="3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73075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886968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886968"/>
            <a:ext cx="36576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886968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57216" y="93268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Intelligence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57216" y="1124712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real-time token delivery via /ask/stream. AbortController cancellation. Typing cursor animation. Executive cards render only after stream completes.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156448" y="1152144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F59E0B">
              <a:alpha val="3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56448" y="11521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746504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1746504"/>
            <a:ext cx="36576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1746504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57216" y="179222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57216" y="1984248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7-stage decision trace per query: data ingestion → cleaning → classification → engine → confidence → narrative → output. Every decision auditable.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156448" y="2011680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3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2606040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606040"/>
            <a:ext cx="36576" cy="7680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606040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157216" y="265176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Interface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57216" y="2843784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STT (Chrome/Edge) + speechSynthesis TTS in Indian English (en-IN). Markdown stripped before speaking. Unmount-safe stateless hooks.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156448" y="287121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06B6D4">
              <a:alpha val="3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56448" y="287121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3465576"/>
            <a:ext cx="4133088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54880" y="3465576"/>
            <a:ext cx="36576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3465576"/>
            <a:ext cx="256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157216" y="351129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UX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57216" y="3703320"/>
            <a:ext cx="29443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Terminal aesthetic. 7-zone command center. Immersive mode. Density toggles (compact/balanced/expanded). Priority-sorted insight cards.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156448" y="3730752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3B82F6">
              <a:alpha val="3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56448" y="373075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53712" y="868680"/>
            <a:ext cx="0" cy="3474720"/>
          </a:xfrm>
          <a:prstGeom prst="line">
            <a:avLst/>
          </a:prstGeom>
          <a:noFill/>
          <a:ln w="10160">
            <a:solidFill>
              <a:srgbClr val="2A4A7A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Grounding Architecture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Zero Injection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Analyst Personas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Decision Trace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STT · TTS · en-IN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176452408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32  ·  COMPARISONS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vs Existing Solutions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 against current agricultural market information systems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77824"/>
            <a:ext cx="8631936" cy="310896"/>
          </a:xfrm>
          <a:prstGeom prst="rect">
            <a:avLst/>
          </a:prstGeom>
          <a:solidFill>
            <a:srgbClr val="0F2040"/>
          </a:solidFill>
          <a:ln w="15240">
            <a:solidFill>
              <a:srgbClr val="2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77824"/>
            <a:ext cx="2798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18688" y="87782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84064" y="87782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Agmarknet Portal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0" y="87782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eNAM Platform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207008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20700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Forecasting (7/30/90d)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18688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Prophet + XGBoost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84064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49440" y="120700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591056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59105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Conversational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18688" y="159105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Gemini 2.5 Flash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84064" y="159105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49440" y="159105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1975104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97510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 (10+ years)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8688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2015–2026 AGMARKNET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84064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 query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49440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3–5 years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2359152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359152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18688" y="235915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7-Agent Council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84064" y="235915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49440" y="235915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743200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74320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/ Output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18688" y="27432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STT + TTS (en-IN)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84064" y="27432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49440" y="274320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127248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12724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(PDF + Excel)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18688" y="31272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AI-Narrated Reports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84064" y="31272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CSV only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49440" y="31272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PDF only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3511296"/>
            <a:ext cx="8631936" cy="365760"/>
          </a:xfrm>
          <a:prstGeom prst="rect">
            <a:avLst/>
          </a:prstGeom>
          <a:solidFill>
            <a:srgbClr val="0D1A2E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51129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18688" y="351129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90-day z-score scan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084064" y="351129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49440" y="351129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3895344"/>
            <a:ext cx="8631936" cy="365760"/>
          </a:xfrm>
          <a:prstGeom prst="rect">
            <a:avLst/>
          </a:prstGeom>
          <a:solidFill>
            <a:srgbClr val="07101F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89534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Pipeline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18688" y="389534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7-stage trace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084064" y="389534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949440" y="389534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4320" y="43342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Support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34640" y="43342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394960" y="43342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Available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963440085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EF4444">
              <a:alpha val="3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33  ·  CHALLENGES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Obstacles We Encountered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modelling · AI safety · infrastructure · domain constraints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EF4444">
              <a:alpha val="28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Sparsity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mandis report intermittently — some crops show months-long gaps. Irregular time-series breaks standard ML assumptions and degrades Prophet forecasts on thin datasets</a:t>
            </a: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Extreme Price Volatility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CV = 54.7%. Prices swing ₹200→₹5,500/qtl within weeks. High volatility widens confidence intervals and reduces forecast reliability for perishable crops.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EF4444">
              <a:alpha val="28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Hallucination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invent plausible-sounding prices and forecasts. Without architectural grounding, Gemini would fabricate numbers rather than narrate real AGMARKNET data</a:t>
            </a: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Cold-Start Problem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0288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crops entering the registry (Tier C/D) have &lt;1 year of data. Prophet requires 2+ seasonal cycles; XGBoost needs &gt;500 training rows for reliable gradient boosting.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Rural Connectivity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(farmers, mandi traders) often have 2G connections. Heavy SPA bundles and cloud-dependent AI responses create latency barriers in rural South India.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Cross-State Heterogeneity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90288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in Kerala trades at 3× Telangana prices for identical quality. A single pan-India model fails; per-state modelling multiplies compute and maintenance complexity.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EF444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Core Challenges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Robustness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Safety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006957203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34  ·  SOLUTIONS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Solved Each Challenge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· custom models · grounding framework · tier system · local-first design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Sparse-Trend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third forecasting model purpose-built for irregular series. Falls back from Prophet → XGBoost → Sparse-Trend based on data depth. Tier A/B/C/D registry ensures graceful degradation</a:t>
            </a: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978408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9784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960120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Volatility-Aware Scoring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125272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engine weights CV, anomaly count, training rows, and forecast model tier. High-CV crops (Tomato) receive lower confidence scores with wider confidence intervals shown to users.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Deterministic Grounding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boundary: LLM receives pre-computed AGMARKNET facts via PromptContext and narrates — it never generates numbers. 7-stage trace makes every decision auditable end-to-end.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22219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22219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2203704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 Tier Registry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0288" y="2496312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crops classified Tier A (5+ years, daily) → Tier D (sparse, seasonal only). Tier controls model selection, confidence floors, and UI warnings. New crops auto-degrade gracefully.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 Local-First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analytical database — no network call, no cloud dependency for data queries. Parquet files on disk. Sub-200ms queries on 48M rows. Works in offline/low-bandwidth scenarios.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34655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4655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447288"/>
            <a:ext cx="3602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Per-State Ensemble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90288" y="3739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 training per crop × state combination. Karnataka Tomato and Tamil Nadu Tomato are independent models. State-level ensemble captures regional market dynamics independently.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Sparse-Trend Model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Architecture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A/B/C/D System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Local-First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Per-State Ensemble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166857034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8B5CF6">
              <a:alpha val="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35  ·  FUTURE SCOPE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— AgroPrice AI Next Frontiers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planned phases extending the platform into mobile · weather · live markets · satellite intelligence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86968"/>
            <a:ext cx="45720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978408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2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97840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3856" y="978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1216152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🌦️ Weather Data Fusion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1453896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IMD (India Meteorological Department) API. Correlate rainfall, temperature, and humidity with crop price volatility. Weather-augmented Gemini advisory.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886968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886968"/>
            <a:ext cx="457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978408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97840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7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58384" y="978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08576" y="1216152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Mobile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08576" y="1453896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PWA with offline DuckDB cache. WhatsApp bot for voice-based price queries. Designed for 2G connectivity — &lt;200KB initial payload.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130552"/>
            <a:ext cx="45720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221992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221992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8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33856" y="2221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2459736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🏛️ eNAM Live Integration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2697480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National Agriculture Market (eNAM) real-time API for live mandi arrivals and trade volumes — replacing inferred supply/demand signals.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2130552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2130552"/>
            <a:ext cx="45720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8576" y="2221992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25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2221992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9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58384" y="2221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08576" y="2459736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🛰️ Satellite Yield Prediction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08576" y="2697480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NDVI satellite imagery (Sentinel-2) with price models. Predict supply shocks 6–8 weeks ahead by tracking crop health across South Indian districts.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374136"/>
            <a:ext cx="4572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465576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2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465576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33856" y="34655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4048" y="370332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 Proactive Alert System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3941064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framework for price anomaly alerts, forecast reversals, and seasonal entry windows. Subscriptions per crop × state × threshold.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3374136"/>
            <a:ext cx="4151376" cy="1170432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3374136"/>
            <a:ext cx="457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8576" y="3465576"/>
            <a:ext cx="676656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08576" y="3465576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58384" y="34655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608576" y="370332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Cooperative Intelligence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08576" y="3941064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 for Farmer Producer Organisations (FPOs). Shared crop pools, collective bargaining signals, inter-mandi arbitrage identification.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681728"/>
            <a:ext cx="1664208" cy="201168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47472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6–11 Roadmap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993392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066544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IMD API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12464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785616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· WhatsApp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31536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504688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Live Data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150608" y="4681728"/>
            <a:ext cx="1664208" cy="201168"/>
          </a:xfrm>
          <a:prstGeom prst="rect">
            <a:avLst/>
          </a:prstGeom>
          <a:solidFill>
            <a:srgbClr val="0D1A2E"/>
          </a:solidFill>
          <a:ln w="10160">
            <a:solidFill>
              <a:srgbClr val="1E3A5F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223760" y="468172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NDVI Yield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889377018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36  ·  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— What We Built and Why It Matters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agricultural intelligence · grounded AI · real data · real decisions · real 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86968"/>
            <a:ext cx="4572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097280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10B981">
              <a:alpha val="2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0972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9601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Closes the intelligence gap.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0" cy="347472"/>
          </a:xfrm>
          <a:prstGeom prst="line">
            <a:avLst/>
          </a:prstGeom>
          <a:noFill/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941832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48.2M AGMARKNET records transformed into actionable price intelligence for South Indian farmers, traders, and agribusinesses — democratising market access.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27632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627632"/>
            <a:ext cx="45720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837944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06B6D4">
              <a:alpha val="2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83794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170078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Grounded AI prevents harm.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792224"/>
            <a:ext cx="0" cy="347472"/>
          </a:xfrm>
          <a:prstGeom prst="line">
            <a:avLst/>
          </a:prstGeom>
          <a:noFill/>
          <a:ln w="1016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682496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generates every number. Gemini 2.5 Flash narrates insights about real data. Zero hallucination by architectural design, verified end-to-end.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368296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368296"/>
            <a:ext cx="45720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578608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3B82F6">
              <a:alpha val="2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5786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24414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depth, not gimmick.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532888"/>
            <a:ext cx="0" cy="347472"/>
          </a:xfrm>
          <a:prstGeom prst="line">
            <a:avLst/>
          </a:prstGeom>
          <a:noFill/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423160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specialist council (Phase 5), regime detection, probability engine, and cross-market influence graph — all deterministic, traceable, and explainable.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108960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108960"/>
            <a:ext cx="45720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319272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3192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" y="31821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Production-grade, deployable now.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0" cy="347472"/>
          </a:xfrm>
          <a:prstGeom prst="line">
            <a:avLst/>
          </a:prstGeom>
          <a:noFill/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3163824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:8001 + React+Vite :5173 + DuckDB + Prophet/XGBoost stack. 5-phase iterative build from Jan–Jun 2026. Extensible for FPOs and government agri-portals.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849624"/>
            <a:ext cx="8631936" cy="676656"/>
          </a:xfrm>
          <a:prstGeom prst="rect">
            <a:avLst/>
          </a:prstGeom>
          <a:solidFill>
            <a:srgbClr val="0D1A2E"/>
          </a:solidFill>
          <a:ln w="1524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849624"/>
            <a:ext cx="4572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4059936"/>
            <a:ext cx="347472" cy="256032"/>
          </a:xfrm>
          <a:prstGeom prst="roundRect">
            <a:avLst>
              <a:gd name="adj" fmla="val 42857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0599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" y="392277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Blueprint for responsible AI.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014216"/>
            <a:ext cx="0" cy="347472"/>
          </a:xfrm>
          <a:prstGeom prst="line">
            <a:avLst/>
          </a:prstGeom>
          <a:noFill/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3904488"/>
            <a:ext cx="5449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deterministic ↔ LLM boundary, domain guardrails, confidence scoring, and a 7-stage auditable pipeline. A reusable framework for any agricultural AI system.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69128529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3B82F6">
              <a:alpha val="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37  ·  CONTRIBUTIONS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&amp; Academic Contributions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architectures · open-source frameworks · domain datasets · reproducible AI design patterns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6868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68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CONTRIBUTIONS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26864" y="868680"/>
            <a:ext cx="2011680" cy="201168"/>
          </a:xfrm>
          <a:prstGeom prst="roundRect">
            <a:avLst>
              <a:gd name="adj" fmla="val 54545"/>
            </a:avLst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868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CONTRIBUTIONS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6032" y="113385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133856"/>
            <a:ext cx="36576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179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Grounded LLM Architecture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1389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deterministic ↔ LLM boundary preventing hallucination in domain-specific AI applications. Reusable for any structured-data advisory system.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186537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865376"/>
            <a:ext cx="36576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911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Multi-Agent Council Framework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7-specialist agent council with weighted aggregation, dissent detection, and consensus scoring. Extensible to any multi-signal market system.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259689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596896"/>
            <a:ext cx="36576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Sparse-Trend Forecasting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for irregular agricultural time-series. Tier A/B/C/D degradation pattern for new-crop cold-start scenarios.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332841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328416"/>
            <a:ext cx="36576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374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 FastAPI + DuckDB + Gemini Stack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584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blueprint: embedded DuckDB analytics + FastAPI backend + React Vite frontend + SSE streaming + Gemini advisory, fully open-source.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405993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059936"/>
            <a:ext cx="36576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1056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South India Crop Corpus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315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48.2M AGMARKNET records (2015–2026) cleaned, indexed in DuckDB Parquet, and enriched with 27-crop registry + 22-signal intelligence framework.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26864" y="113385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6864" y="1133856"/>
            <a:ext cx="36576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179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 Responsible AI Design Pattern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389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guardrail architecture, domain scope enforcement, and confidence transparency for LLM-backed advisory systems in high-stakes domains.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26864" y="186537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26864" y="1865376"/>
            <a:ext cx="36576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911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Agentic Intelligence Study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study of multi-agent consensus vs single-model recommendations across 27 South Indian crops and 5 states (2015–2026 data).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26864" y="2596896"/>
            <a:ext cx="4133088" cy="676656"/>
          </a:xfrm>
          <a:prstGeom prst="rect">
            <a:avLst/>
          </a:prstGeom>
          <a:solidFill>
            <a:srgbClr val="0D1A2E"/>
          </a:solidFill>
          <a:ln w="1270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26864" y="2596896"/>
            <a:ext cx="36576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AgriTech AI Framework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open-source framework for agricultural AI: data pipeline, forecasting ensemble, grounded LLM layer, and agentic decision intelligence.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26864" y="3328416"/>
            <a:ext cx="4133088" cy="676656"/>
          </a:xfrm>
          <a:prstGeom prst="rect">
            <a:avLst/>
          </a:prstGeom>
          <a:solidFill>
            <a:srgbClr val="0F2040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3328416"/>
            <a:ext cx="36576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374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MCA Research Project — 2nd Semester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54880" y="3584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Master of Computer Applications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R.V. College of Engineering, Bengaluru · June 2026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under Generative AI Elective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25696" y="868680"/>
            <a:ext cx="0" cy="0"/>
          </a:xfrm>
          <a:prstGeom prst="line">
            <a:avLst/>
          </a:prstGeom>
          <a:noFill/>
          <a:ln w="10160">
            <a:solidFill>
              <a:srgbClr val="2A4A7A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25696" y="868680"/>
            <a:ext cx="0" cy="3840480"/>
          </a:xfrm>
          <a:prstGeom prst="line">
            <a:avLst/>
          </a:prstGeom>
          <a:noFill/>
          <a:ln w="10160">
            <a:solidFill>
              <a:srgbClr val="2A4A7A">
                <a:alpha val="60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9184715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3657600"/>
          </a:xfrm>
          <a:prstGeom prst="ellipse">
            <a:avLst/>
          </a:prstGeom>
          <a:solidFill>
            <a:srgbClr val="E2E8F0">
              <a:alpha val="3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"/>
            <a:ext cx="2743200" cy="210312"/>
          </a:xfrm>
          <a:prstGeom prst="roundRect">
            <a:avLst>
              <a:gd name="adj" fmla="val 52174"/>
            </a:avLst>
          </a:prstGeom>
          <a:solidFill>
            <a:srgbClr val="E2E8F0">
              <a:alpha val="2000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2743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38  ·  REFERENCES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Sources, Research &amp; Technology Stack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· models · frameworks · and libraries that power AgroPrice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" y="103327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03327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105156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051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481328" y="92354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(Agricultural Marketing Information Network). Directorate of Marketing &amp; Inspection, Government of India. Daily mandi prices 2015–2026. data.gov.in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143560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" y="158191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5819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" y="160020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1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600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481328" y="147218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Taylor, S.J. &amp; Letham, B. (2018). "Forecasting at Scale." The American Statistician, 72(1), 37–45. doi:10.1080/00031305.2017.1380080 — Facebook Prophet.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98424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" y="213055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13055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" y="214884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10B981">
              <a:alpha val="1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148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481328" y="202082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&amp; Guestrin, C. (2016). "XGBoost: A Scalable Tree Boosting System." Proc. 22nd ACM SIGKDD, pp. 785–794. doi:10.1145/2939672.2939785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" y="253288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" y="267919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67919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" y="269748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8B5CF6">
              <a:alpha val="1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97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/ AI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481328" y="256946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(2024). Gemini: A Family of Highly Capable Multimodal Models. Technical Report. Accessed via Google AI Studio — model: gemini-2.5-flash.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" y="308152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06B6D4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" y="322783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22783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" y="324612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06B6D4">
              <a:alpha val="1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46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481328" y="311810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Raasveldt, M. &amp; Mühleisen, H. (2019). "DuckDB: An Embeddable Analytical Database." Proc. SIGMOD 2019. doi:10.1145/3299869.3320212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63016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F59E0B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" y="377647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377647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379476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F59E0B">
              <a:alpha val="1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794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481328" y="366674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Ramírez, S. (2018–2026). FastAPI — High Performance Python Web Framework. fastapi.tiangolo.com. Used with uvicorn ASGI server (v0.20+).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4178808"/>
            <a:ext cx="8631936" cy="512064"/>
          </a:xfrm>
          <a:prstGeom prst="rect">
            <a:avLst/>
          </a:prstGeom>
          <a:solidFill>
            <a:srgbClr val="0D1A2E"/>
          </a:solidFill>
          <a:ln w="1016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" y="432511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3251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8368" y="434340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43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481328" y="421538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 (2013–2026). React — A JavaScript Library for Building User Interfaces. react.dev. Vite build system by Evan You (vitejs.dev).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56032" y="4727448"/>
            <a:ext cx="8631936" cy="512064"/>
          </a:xfrm>
          <a:prstGeom prst="rect">
            <a:avLst/>
          </a:prstGeom>
          <a:solidFill>
            <a:srgbClr val="07101F"/>
          </a:solidFill>
          <a:ln w="10160">
            <a:solidFill>
              <a:srgbClr val="94A3B8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9184" y="487375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94A3B8">
              <a:alpha val="2500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487375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8368" y="4892040"/>
            <a:ext cx="731520" cy="182880"/>
          </a:xfrm>
          <a:prstGeom prst="roundRect">
            <a:avLst>
              <a:gd name="adj" fmla="val 60000"/>
            </a:avLst>
          </a:prstGeom>
          <a:solidFill>
            <a:srgbClr val="94A3B8">
              <a:alpha val="18000"/>
            </a:srgbClr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892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Styling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481328" y="476402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(v3.4). A utility-first CSS framework. tailwindcss.com. TailwindCSS UI + custom glassmorphism + Bloomberg-style dark theme.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455480393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"/>
            <a:ext cx="5486400" cy="36576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731520"/>
            <a:ext cx="5943600" cy="4114800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286000"/>
            <a:ext cx="4572000" cy="2743200"/>
          </a:xfrm>
          <a:prstGeom prst="ellipse">
            <a:avLst/>
          </a:prstGeom>
          <a:solidFill>
            <a:srgbClr val="8B5CF6">
              <a:alpha val="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762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493008"/>
            <a:ext cx="8412480" cy="0"/>
          </a:xfrm>
          <a:prstGeom prst="line">
            <a:avLst/>
          </a:prstGeom>
          <a:noFill/>
          <a:ln w="762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92608"/>
            <a:ext cx="2743200" cy="237744"/>
          </a:xfrm>
          <a:prstGeom prst="roundRect">
            <a:avLst>
              <a:gd name="adj" fmla="val 46154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  ·  MCA PROJECT  · 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621792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South India's Farmers with Grounded Artificial Intelligence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2560320" cy="603504"/>
          </a:xfrm>
          <a:prstGeom prst="rect">
            <a:avLst/>
          </a:prstGeom>
          <a:solidFill>
            <a:srgbClr val="0D1A2E"/>
          </a:solidFill>
          <a:ln w="16510">
            <a:solidFill>
              <a:srgbClr val="10B981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377440"/>
            <a:ext cx="36576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48.2M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" y="26883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2015–2026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319272" y="2377440"/>
            <a:ext cx="2560320" cy="603504"/>
          </a:xfrm>
          <a:prstGeom prst="rect">
            <a:avLst/>
          </a:prstGeom>
          <a:solidFill>
            <a:srgbClr val="0D1A2E"/>
          </a:solidFill>
          <a:ln w="16510">
            <a:solidFill>
              <a:srgbClr val="3B82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9272" y="2377440"/>
            <a:ext cx="36576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7288" y="26883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Zero Hallucination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35624" y="2377440"/>
            <a:ext cx="2560320" cy="603504"/>
          </a:xfrm>
          <a:prstGeom prst="rect">
            <a:avLst/>
          </a:prstGeom>
          <a:solidFill>
            <a:srgbClr val="0D1A2E"/>
          </a:solidFill>
          <a:ln w="16510">
            <a:solidFill>
              <a:srgbClr val="8B5CF6"/>
            </a:solidFill>
            <a:prstDash val="solid"/>
          </a:ln>
          <a:effectLst>
            <a:outerShdw blurRad="228600" dist="762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2377440"/>
            <a:ext cx="36576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 Complete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883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Decision Council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4320" y="351129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sabhilash.mca25@rvce.edu.in   ·   R.V. College of Engineering, Bengaluru   ·   MCA 2nd Semester · GEN AI Elective Project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803904"/>
            <a:ext cx="8412480" cy="0"/>
          </a:xfrm>
          <a:prstGeom prst="line">
            <a:avLst/>
          </a:prstGeom>
          <a:noFill/>
          <a:ln w="1016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993392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+ Prophet + XGBoost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2464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TailwindCSS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31536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150608" y="3877056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· Gov. of India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46720" y="64008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39/39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48280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AgroPrice AI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633587203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9909</Words>
  <Application>Microsoft Office PowerPoint</Application>
  <PresentationFormat>On-screen Show (16:9)</PresentationFormat>
  <Paragraphs>1753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Arial Black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AgroPrice AI — Gen AI Project</dc:title>
  <dc:subject>PptxGenJS Presentation</dc:subject>
  <dc:creator>S. Abhilash</dc:creator>
  <cp:lastModifiedBy>Abhilash S</cp:lastModifiedBy>
  <cp:revision>3</cp:revision>
  <dcterms:created xsi:type="dcterms:W3CDTF">2026-06-15T22:38:52Z</dcterms:created>
  <dcterms:modified xsi:type="dcterms:W3CDTF">2026-06-15T23:52:17Z</dcterms:modified>
</cp:coreProperties>
</file>