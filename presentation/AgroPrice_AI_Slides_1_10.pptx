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4114800"/>
          </a:xfrm>
          <a:prstGeom prst="ellipse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5029200" cy="4114800"/>
          </a:xfrm>
          <a:prstGeom prst="ellipse">
            <a:avLst/>
          </a:prstGeom>
          <a:solidFill>
            <a:srgbClr val="3B82F6">
              <a:alpha val="1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-457200"/>
            <a:ext cx="3657600" cy="32004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56032"/>
            <a:ext cx="23774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PROJECT  ·  MCA 2ND SEMESTER  ·  RVCE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603504"/>
            <a:ext cx="8503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</a:t>
            </a:r>
            <a:pPr algn="l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20040" y="19751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Agricultural Market Intelligence &amp; Forecasting Platform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 ·  Karnataka  ·  Andhra Pradesh  ·  Kerala  ·  Telangana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8503920" cy="0"/>
          </a:xfrm>
          <a:prstGeom prst="line">
            <a:avLst/>
          </a:prstGeom>
          <a:noFill/>
          <a:ln w="10160">
            <a:solidFill>
              <a:srgbClr val="2A4A7A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871216"/>
            <a:ext cx="1920240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871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MEMBERS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19088" y="2871216"/>
            <a:ext cx="2377440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1901952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90672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1089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 Abhilash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31927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1RV25MC084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13432" y="3090672"/>
            <a:ext cx="1901952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13432" y="3090672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1089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Rajath 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31927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1RV25MC080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06824" y="3090672"/>
            <a:ext cx="1901952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06824" y="3090672"/>
            <a:ext cx="3657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6552" y="31089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Praveen K 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16552" y="331927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1RV25MC076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19088" y="3090672"/>
            <a:ext cx="2377440" cy="457200"/>
          </a:xfrm>
          <a:prstGeom prst="rect">
            <a:avLst/>
          </a:prstGeom>
          <a:solidFill>
            <a:srgbClr val="0F204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19088" y="3090672"/>
            <a:ext cx="36576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3108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Prof. Usha J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28816" y="33192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MCA  ·  RVCE, Bengaluru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657600"/>
            <a:ext cx="192024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9768" y="371246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29768" y="405993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96312" y="3657600"/>
            <a:ext cx="192024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06040" y="371246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606040" y="405993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72584" y="3657600"/>
            <a:ext cx="192024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82312" y="371246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YRS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782312" y="405993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2015–2026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48856" y="3657600"/>
            <a:ext cx="192024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958584" y="371246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58584" y="405993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43600" y="46817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sabhilash.mca25@rvce.edu.in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778240" y="490118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2004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AgroPrice AI?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agentic platform that converts 12 years of South Indian mandi data into real-time price intelligence, AI-grounded forecasts, and institutional-grade advisory.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956816"/>
            <a:ext cx="2761488" cy="2560320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56816"/>
            <a:ext cx="54864" cy="2560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665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08483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" y="2523744"/>
            <a:ext cx="2468880" cy="0"/>
          </a:xfrm>
          <a:prstGeom prst="line">
            <a:avLst/>
          </a:prstGeom>
          <a:noFill/>
          <a:ln w="10160">
            <a:solidFill>
              <a:srgbClr val="EF4444">
                <a:alpha val="3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6517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volatility with no forecasting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0624" y="31821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mandi data across states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0624" y="371246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advisory for farmers or traders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18688" y="1956816"/>
            <a:ext cx="2761488" cy="2560320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956816"/>
            <a:ext cx="54864" cy="2560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0665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58768" y="208483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ENGINE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2523744"/>
            <a:ext cx="2468880" cy="0"/>
          </a:xfrm>
          <a:prstGeom prst="line">
            <a:avLst/>
          </a:prstGeom>
          <a:noFill/>
          <a:ln w="10160">
            <a:solidFill>
              <a:srgbClr val="06B6D4">
                <a:alpha val="3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6517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+ Prophet + SparseTrend ML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64992" y="31821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grounded narration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64992" y="371246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council + probabilistic outlook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63056" y="1956816"/>
            <a:ext cx="2761488" cy="2560320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1956816"/>
            <a:ext cx="54864" cy="2560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0665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03136" y="208483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2523744"/>
            <a:ext cx="2468880" cy="0"/>
          </a:xfrm>
          <a:prstGeom prst="line">
            <a:avLst/>
          </a:prstGeom>
          <a:noFill/>
          <a:ln w="10160">
            <a:solidFill>
              <a:srgbClr val="10B981">
                <a:alpha val="3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6517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crops × 5 states × 12 years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09360" y="31821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AI advisory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09360" y="371246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for all user roles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4590288"/>
            <a:ext cx="2029968" cy="310896"/>
          </a:xfrm>
          <a:prstGeom prst="roundRect">
            <a:avLst>
              <a:gd name="adj" fmla="val 35294"/>
            </a:avLst>
          </a:prstGeom>
          <a:solidFill>
            <a:srgbClr val="F59E0B">
              <a:alpha val="18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9028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Yearly Parquet Files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487168" y="4590288"/>
            <a:ext cx="2029968" cy="310896"/>
          </a:xfrm>
          <a:prstGeom prst="roundRect">
            <a:avLst>
              <a:gd name="adj" fmla="val 35294"/>
            </a:avLst>
          </a:prstGeom>
          <a:solidFill>
            <a:srgbClr val="10B981">
              <a:alpha val="18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78608" y="459028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Crops Tracked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0016" y="4590288"/>
            <a:ext cx="2029968" cy="310896"/>
          </a:xfrm>
          <a:prstGeom prst="roundRect">
            <a:avLst>
              <a:gd name="adj" fmla="val 35294"/>
            </a:avLst>
          </a:prstGeom>
          <a:solidFill>
            <a:srgbClr val="06B6D4">
              <a:alpha val="18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459028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API Route Groups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12864" y="4590288"/>
            <a:ext cx="2029968" cy="310896"/>
          </a:xfrm>
          <a:prstGeom prst="roundRect">
            <a:avLst>
              <a:gd name="adj" fmla="val 35294"/>
            </a:avLst>
          </a:prstGeom>
          <a:solidFill>
            <a:srgbClr val="3B82F6">
              <a:alpha val="18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04304" y="459028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 Live Endpoints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36576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INTRODUCTION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023360" cy="2724912"/>
          </a:xfrm>
          <a:prstGeom prst="rect">
            <a:avLst/>
          </a:prstGeom>
          <a:solidFill>
            <a:srgbClr val="0F204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54864" cy="2724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08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 Intelligence Gap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3566160" cy="0"/>
          </a:xfrm>
          <a:prstGeom prst="line">
            <a:avLst/>
          </a:prstGeom>
          <a:noFill/>
          <a:ln w="10160">
            <a:solidFill>
              <a:srgbClr val="8B5CF6">
                <a:alpha val="3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47088"/>
            <a:ext cx="36210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Indian agricultural markets move thousands of crores of rupees — yet most farmers and traders navigate price decisions with little more than guesswork.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AgroPrice AI replaces that uncertainty with real-time intelligence grounded in 12 years of AGMARKNET mandi price data across 5 states and 27 crops.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298448"/>
            <a:ext cx="4389120" cy="603504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298448"/>
            <a:ext cx="54864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29844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75504" y="13441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Forecasting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75504" y="1591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/ 30d / 90d Prophet predictions with calibrated confidence bands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1975104"/>
            <a:ext cx="4389120" cy="603504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975104"/>
            <a:ext cx="54864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97510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75504" y="20208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AI Advisory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75504" y="2267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conversational AI grounded in real DuckDB metrics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2651760"/>
            <a:ext cx="4389120" cy="603504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2651760"/>
            <a:ext cx="54864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265176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75504" y="2697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75504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z-score spike/crash detection across all 27 crops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3328416"/>
            <a:ext cx="4389120" cy="603504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3328416"/>
            <a:ext cx="54864" cy="6035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32841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75504" y="33741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Intelligence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75504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council + probabilistic outlook + 4 analyst personas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151376"/>
            <a:ext cx="8595360" cy="438912"/>
          </a:xfrm>
          <a:prstGeom prst="rect">
            <a:avLst/>
          </a:prstGeom>
          <a:solidFill>
            <a:srgbClr val="0F2040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513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scope:  27 Crops  ·  5 South Indian States  ·  AGMARKNET 2015–2026  ·  Gemini 2.5 Flash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371600"/>
            <a:ext cx="4572000" cy="36576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OBJECTIVES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243584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408176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29844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Forecasting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57276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Prophet forecasts (7d / 30d / 90d) with calibrated confidence bands for all 27 crops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36592" y="1243584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408176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76672" y="129844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Anomaly Detection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76672" y="157276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z-score spike/crash detection; severity low/medium/high over a 90-day lookback window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048256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2336" y="2212848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031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Conversational AI Advisor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23774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multi-turn Gemini advisory with session memory, entity extraction &amp; 4 analyst personas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36592" y="2048256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2212848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76672" y="21031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Regime Detection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76672" y="23774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market regime classifications (Bullish Expansion to Panic Volatility) via deterministic signal fusion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852928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2336" y="3017520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29077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Cross-Crop Intelligence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" y="318211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crop relationship graph (complement/substitute/seasonal/regional) with contagion risk scoring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36592" y="2852928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3017520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76672" y="29077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AI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76672" y="318211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decision trace, confidence engine, correlation signals — every response is fully traceable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657600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02336" y="3822192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371246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Probabilistic Decisions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14400" y="398678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up/down/sideways probabilities + volatility shock + reversal risk per crop and state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36592" y="3657600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3822192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76672" y="371246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Institutional Reporting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376672" y="398678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synthesis with 5 market postures, Bloomberg-style briefings, PDF/Excel report generation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36576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32004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PROBLEM STATEMENT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8595360" cy="493776"/>
          </a:xfrm>
          <a:prstGeom prst="rect">
            <a:avLst/>
          </a:prstGeom>
          <a:solidFill>
            <a:srgbClr val="1A0808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price volatility devastates millions — yet farmers navigate markets with guesswork and fragmented phone calls.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54864" cy="2505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933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2688" y="199339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Volatility Crisis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2336" y="2487168"/>
            <a:ext cx="2505456" cy="0"/>
          </a:xfrm>
          <a:prstGeom prst="line">
            <a:avLst/>
          </a:prstGeom>
          <a:noFill/>
          <a:ln w="1016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57860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02336" y="30175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within 90 days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3273552"/>
            <a:ext cx="2505456" cy="0"/>
          </a:xfrm>
          <a:prstGeom prst="line">
            <a:avLst/>
          </a:prstGeom>
          <a:noFill/>
          <a:ln w="10160">
            <a:solidFill>
              <a:srgbClr val="EF4444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364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prices crash post-harvest then spike 4× in off-season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forecasting system exists for mandi-level prediction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2336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sell at market bottoms due to post-harvest pressure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1901952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1901952"/>
            <a:ext cx="54864" cy="2505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9933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77056" y="199339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Fragmentation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46704" y="2487168"/>
            <a:ext cx="2505456" cy="0"/>
          </a:xfrm>
          <a:prstGeom prst="line">
            <a:avLst/>
          </a:prstGeom>
          <a:noFill/>
          <a:ln w="1016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57860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815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346704" y="30175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data-entry errors removed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46704" y="3273552"/>
            <a:ext cx="2505456" cy="0"/>
          </a:xfrm>
          <a:prstGeom prst="line">
            <a:avLst/>
          </a:prstGeom>
          <a:noFill/>
          <a:ln w="1016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3364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has 3+ Variety rows per crop/day — no deduplication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46704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contains prices up to Rs 918 million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6704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analytics layer across 5 South Indian states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63056" y="1901952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1901952"/>
            <a:ext cx="54864" cy="2505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9933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21424" y="199339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Gap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91072" y="2487168"/>
            <a:ext cx="2505456" cy="0"/>
          </a:xfrm>
          <a:prstGeom prst="line">
            <a:avLst/>
          </a:prstGeom>
          <a:noFill/>
          <a:ln w="1016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257860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6291072" y="30175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 for farmers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91072" y="3273552"/>
            <a:ext cx="2505456" cy="0"/>
          </a:xfrm>
          <a:prstGeom prst="line">
            <a:avLst/>
          </a:prstGeom>
          <a:noFill/>
          <a:ln w="10160">
            <a:solidFill>
              <a:srgbClr val="8B5CF6">
                <a:alpha val="2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3364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rely on phone networks and delayed mandi reports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91072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cross-crop relationship analysis for arbitrage decisions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91072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explainable AI to justify a sell/hold recommendation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590288"/>
            <a:ext cx="8595360" cy="274320"/>
          </a:xfrm>
          <a:prstGeom prst="rect">
            <a:avLst/>
          </a:prstGeom>
          <a:solidFill>
            <a:srgbClr val="0A140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→  AgroPrice AI delivers grounded AI intelligence so every market decision is backed by real data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371600"/>
            <a:ext cx="5486400" cy="4114800"/>
          </a:xfrm>
          <a:prstGeom prst="ellipse">
            <a:avLst/>
          </a:prstGeom>
          <a:solidFill>
            <a:srgbClr val="06B6D4">
              <a:alpha val="9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APPLICATIONS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Benefits?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56032" y="1243584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43584"/>
            <a:ext cx="54864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7824" y="13167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7824" y="1554480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18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554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Mode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" y="1792224"/>
            <a:ext cx="2523744" cy="0"/>
          </a:xfrm>
          <a:prstGeom prst="line">
            <a:avLst/>
          </a:prstGeom>
          <a:noFill/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86537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sell now or wait? Practical harvest-timing guidance in plain language with mandi selection advice.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/ Hold / Wait verdict + seasonal timing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18688" y="1243584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243584"/>
            <a:ext cx="54864" cy="1463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40480" y="13167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Wholesale Buyer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1554480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06B6D4">
              <a:alpha val="18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554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Mode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346704" y="1792224"/>
            <a:ext cx="2523744" cy="0"/>
          </a:xfrm>
          <a:prstGeom prst="line">
            <a:avLst/>
          </a:prstGeom>
          <a:noFill/>
          <a:ln w="1016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86537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timing, bulk pricing windows, cold storage feasibility — cost-conscious supply chain intelligence.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64992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recommendation + 30d price range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81344" y="1243584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1243584"/>
            <a:ext cx="54864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03136" y="13167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Commodity Trader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03136" y="1554480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18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1554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Mode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309360" y="1792224"/>
            <a:ext cx="2523744" cy="0"/>
          </a:xfrm>
          <a:prstGeom prst="line">
            <a:avLst/>
          </a:prstGeom>
          <a:noFill/>
          <a:ln w="1016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186537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7–30d price trajectory, momentum inflection points, volatility as opportunity, and position sizing guidance.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27648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momentum signal + volatility regime badge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2761488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2761488"/>
            <a:ext cx="54864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77824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Policy Analyst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77824" y="3072384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18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Mode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84048" y="3310128"/>
            <a:ext cx="2523744" cy="0"/>
          </a:xfrm>
          <a:prstGeom prst="line">
            <a:avLst/>
          </a:prstGeom>
          <a:noFill/>
          <a:ln w="1016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338328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statistical rigour — CV, anomaly clusters, probabilistic outlook with confidence intervals.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02336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outlook (P up/down) + 7-agent council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18688" y="2761488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18688" y="2761488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3840480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Procurement Mgr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840480" y="3072384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18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Mode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346704" y="3310128"/>
            <a:ext cx="2523744" cy="0"/>
          </a:xfrm>
          <a:prstGeom prst="line">
            <a:avLst/>
          </a:prstGeom>
          <a:noFill/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64992" y="338328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processors: seasonal availability windows, holding cost vs price-movement risk, bulk entry guidance.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364992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/ exit price hints + escalation alerts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81344" y="2761488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81344" y="2761488"/>
            <a:ext cx="54864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45936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803136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Agri-Business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803136" y="3072384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EF4444">
              <a:alpha val="18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03136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309360" y="3310128"/>
            <a:ext cx="2523744" cy="0"/>
          </a:xfrm>
          <a:prstGeom prst="line">
            <a:avLst/>
          </a:prstGeom>
          <a:noFill/>
          <a:ln w="1016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338328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synthesis across all 27 crops — dominant market posture and cross-crop opportunity matrix.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327648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Bloomberg-style briefing + autonomous monitor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"/>
            <a:ext cx="4572000" cy="41148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GENERATIVE AI CONCEPTS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AI Concepts Used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98448"/>
            <a:ext cx="5486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984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Parquet 2015–2026  (DuckDB lazy view)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171907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92224"/>
            <a:ext cx="54864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922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  (volatility · momentum · anomaly · seasonal)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0" y="2212848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286000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860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  (Prophet + SparseTrend → yhat, CI)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86000" y="270662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779776"/>
            <a:ext cx="54864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77977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PromptContext  —  12-field deterministic data contract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3200400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273552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73552"/>
            <a:ext cx="54864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735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 (temperature=0.2, thinking_budget=0)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86000" y="3694176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767328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767328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76732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  →  SSE stream  →  Frontend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315968"/>
            <a:ext cx="4937760" cy="365760"/>
          </a:xfrm>
          <a:prstGeom prst="rect">
            <a:avLst/>
          </a:prstGeom>
          <a:solidFill>
            <a:srgbClr val="0D1A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Gemini reasons ABOUT injected facts — it never invents prices, forecasts, or confidence scores.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1298448"/>
            <a:ext cx="3474720" cy="658368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94960" y="1298448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129844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089904" y="135331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Narration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9904" y="16093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Gemini responses cite real DuckDB metrics injected via PromptContext dataclass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94960" y="2029968"/>
            <a:ext cx="3474720" cy="658368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94960" y="2029968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20299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089904" y="208483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Analyst Personas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89904" y="234086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modes (Farmer / Trader / Wholesale / Analyst) materially change response register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94960" y="2761488"/>
            <a:ext cx="3474720" cy="658368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394960" y="2761488"/>
            <a:ext cx="54864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9552" y="276148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089904" y="28163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Advisory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089904" y="307238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STT + speechSynthesis TTS — voice I/O for farmer accessibility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394960" y="3493008"/>
            <a:ext cx="3474720" cy="658368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394960" y="3493008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9552" y="34930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089904" y="354787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SSE Streaming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089904" y="380390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Gemini output via /api/advisor/ask/stream (native async generator)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394960" y="4242816"/>
            <a:ext cx="3474720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41264" y="4242816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 ·  temp=0.2  ·  thinking_budget=0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max_output_tokens=2048  ·  retry ×2 (exp backoff)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45720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572000" cy="32004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FORECASTING THEORY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Series Forecasting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023360" cy="3493008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54864" cy="3493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081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🔵  Prophet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 — Bayesian additive decomposition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048256"/>
            <a:ext cx="3474720" cy="457200"/>
          </a:xfrm>
          <a:prstGeom prst="rect">
            <a:avLst/>
          </a:prstGeom>
          <a:solidFill>
            <a:srgbClr val="0F2040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48256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y(t)  =  g(t)  +  s(t)  +  h(t)  +  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2651760"/>
            <a:ext cx="3474720" cy="347472"/>
          </a:xfrm>
          <a:prstGeom prst="rect">
            <a:avLst/>
          </a:prstGeom>
          <a:solidFill>
            <a:srgbClr val="0F2040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651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— piecewise linear changepoints (scale=0.05)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072384"/>
            <a:ext cx="3474720" cy="347472"/>
          </a:xfrm>
          <a:prstGeom prst="rect">
            <a:avLst/>
          </a:prstGeom>
          <a:solidFill>
            <a:srgbClr val="0F2040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723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0723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— yearly multiplicative (no weekly/daily)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493008"/>
            <a:ext cx="3474720" cy="347472"/>
          </a:xfrm>
          <a:prstGeom prst="rect">
            <a:avLst/>
          </a:prstGeom>
          <a:solidFill>
            <a:srgbClr val="0F2040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93008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493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— Indian public holidays via add_country_holidays(IN)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" y="3913632"/>
            <a:ext cx="3474720" cy="347472"/>
          </a:xfrm>
          <a:prstGeom prst="rect">
            <a:avLst/>
          </a:prstGeom>
          <a:solidFill>
            <a:srgbClr val="0F2040"/>
          </a:solidFill>
          <a:ln w="889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1363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913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— residual uncertainty captured in CI bands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" y="4370832"/>
            <a:ext cx="3474720" cy="274320"/>
          </a:xfrm>
          <a:prstGeom prst="rect">
            <a:avLst/>
          </a:prstGeom>
          <a:solidFill>
            <a:srgbClr val="0F2040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3708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seasonality_mode=multiplicative  ·  yearly=True  ·  weekly=False  ·  daily=False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80560" y="1298448"/>
            <a:ext cx="4389120" cy="1920240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1298448"/>
            <a:ext cx="54864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4081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 Forecast Horizons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45152" y="1773936"/>
            <a:ext cx="4059936" cy="0"/>
          </a:xfrm>
          <a:prstGeom prst="line">
            <a:avLst/>
          </a:prstGeom>
          <a:noFill/>
          <a:ln w="1016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1828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80176" y="1828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1828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BAND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45152" y="208483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Days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80176" y="20848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sell/hold decision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51776" y="2139696"/>
            <a:ext cx="841248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51776" y="21396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45152" y="243230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980176" y="243230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trade planning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51776" y="2487168"/>
            <a:ext cx="841248" cy="201168"/>
          </a:xfrm>
          <a:prstGeom prst="roundRect">
            <a:avLst>
              <a:gd name="adj" fmla="val 5454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51776" y="248716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45152" y="277977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Days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980176" y="277977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strategy / planting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51776" y="2834640"/>
            <a:ext cx="841248" cy="201168"/>
          </a:xfrm>
          <a:prstGeom prst="roundRect">
            <a:avLst>
              <a:gd name="adj" fmla="val 54545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51776" y="283464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80560" y="3364992"/>
            <a:ext cx="4389120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3364992"/>
            <a:ext cx="54864" cy="9875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438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 Output Fields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63440" y="37307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yhat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predicted modal price (Rs/quintal)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yhat_lower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lower confidence bound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yhat_upper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upper confidence bound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80560" y="4462272"/>
            <a:ext cx="4389120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4462272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SparseTrend Fallback (Tier C/D):  Theil-Sen median slopes + monthly multipliers + 80% CI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371600"/>
            <a:ext cx="54864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41148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AI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Architecture Concepts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9748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21308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48740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09928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5316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00300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27732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88920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4308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9292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06724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67912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6791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43300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58284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85716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46904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46904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22292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37276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4708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25896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25896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01284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716268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743700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04888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80276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+Corr.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795260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822692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59268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286000"/>
            <a:ext cx="2761488" cy="1060704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2286000"/>
            <a:ext cx="54864" cy="10607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2286000"/>
            <a:ext cx="475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969264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69264" y="2651760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Hard/soft blocks prevent off-topic queries (coding, crypto, politics) from reaching Gemini. Checked FIRST on every single call.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18688" y="2286000"/>
            <a:ext cx="2761488" cy="1060704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18688" y="2286000"/>
            <a:ext cx="54864" cy="10607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2286000"/>
            <a:ext cx="475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3913632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Memory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3913632" y="2651760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TTL sessions (2h, max 10 turns). Crop/state context inherited across follow-up turns. Optional Redis backend.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63056" y="2286000"/>
            <a:ext cx="2761488" cy="1060704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63056" y="2286000"/>
            <a:ext cx="54864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2286000"/>
            <a:ext cx="475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6858000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Intent Classify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858000" y="2651760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 rule-based classification. 20+ intent patterns. No LLM involved in routing decisions.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3419856"/>
            <a:ext cx="4224528" cy="1060704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74320" y="3419856"/>
            <a:ext cx="54864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8912" y="3419856"/>
            <a:ext cx="475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969264" y="349300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Grounding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969264" y="3785616"/>
            <a:ext cx="3438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PromptContext carries 12 injected fields from real DuckDB/ML data. Gemini narrates ABOUT deterministic facts — never invents them.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681728" y="3419856"/>
            <a:ext cx="4224528" cy="1060704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81728" y="3419856"/>
            <a:ext cx="54864" cy="10607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3419856"/>
            <a:ext cx="475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5376672" y="349300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 Framing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5376672" y="3785616"/>
            <a:ext cx="3438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analyst personas prepended before system identity. Changes Gemini response register, language, and focus — not the underlying data.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74320" y="4590288"/>
            <a:ext cx="8595360" cy="256032"/>
          </a:xfrm>
          <a:prstGeom prst="rect">
            <a:avLst/>
          </a:prstGeom>
          <a:solidFill>
            <a:srgbClr val="0F2040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pipeline  ·  Deterministic intent  ·  Grounded PromptContext  ·  Session memory  ·  SSE streaming  ·  Exponential retry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57200"/>
            <a:ext cx="4572000" cy="41148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32004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VISUAL INTELLIGENCE &amp; XAI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AI &amp; Visualizations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VISUALIZATION COMPONENTS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72768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5727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600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MiniSparkline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Bezier-smoothed 30-day price with halo dot on last point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048256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048256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0482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0756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VolatilityMeter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267712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gauge arc — CV% mapped to low/high/extreme color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23744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5237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5511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ConfidenceGauge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2743200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arc showing forecast reliability score (0–100%)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999232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99232"/>
            <a:ext cx="54864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99923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30266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RiskHeatBar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218688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Color-gradient bar from low risk (emerald) to extreme (red)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74720"/>
            <a:ext cx="54864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34747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35021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SeasonalPosition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694176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chip: DEEP_PEAK / PEAK / NORMAL / LEAN / TROUGH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950208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950208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3950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" y="39776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MomentumArrow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4169664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arrow: STRONG_BULLISH to STRONG_BEARISH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12618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1572768"/>
            <a:ext cx="4114800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1572768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16276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Confidence Engine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56048" y="18836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from training depth, volatility CV, anomaly count, momentum coherence, and forecast availability. Returns score + contributors + detractors.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2377440"/>
            <a:ext cx="4114800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2377440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24323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Engine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56048" y="26883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4 agent verdicts and emits CONFIRMING / CONTRADICTION / MIXED signals (e.g. 'Bullish momentum + peak season: CONFIRMING'). Max 5 signals per response.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0" y="3182112"/>
            <a:ext cx="4114800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182112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3236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Trace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956048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pipeline trace: data quality, context build, agents, confidence, correlation, prompt. Shows agreed vs dissenting agents and evidence quality score.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3986784"/>
            <a:ext cx="4114800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3986784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4041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 Panel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956048" y="4297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component: agent verdict cards, reasoning trace as pill chips, persona tag, and correlation badges rendered below every streaming AI response.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AgroPrice AI — Gen AI Project</dc:title>
  <dc:subject>PptxGenJS Presentation</dc:subject>
  <dc:creator>S. Abhilash</dc:creator>
  <cp:lastModifiedBy>S. Abhilash</cp:lastModifiedBy>
  <cp:revision>1</cp:revision>
  <dcterms:created xsi:type="dcterms:W3CDTF">2026-06-15T22:38:52Z</dcterms:created>
  <dcterms:modified xsi:type="dcterms:W3CDTF">2026-06-15T22:38:52Z</dcterms:modified>
</cp:coreProperties>
</file>