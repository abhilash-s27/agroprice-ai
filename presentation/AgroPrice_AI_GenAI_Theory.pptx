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914400"/>
            <a:ext cx="6400800" cy="4572000"/>
          </a:xfrm>
          <a:prstGeom prst="ellipse">
            <a:avLst/>
          </a:prstGeom>
          <a:solidFill>
            <a:srgbClr val="8B5CF6">
              <a:alpha val="1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371600"/>
            <a:ext cx="5486400" cy="4572000"/>
          </a:xfrm>
          <a:prstGeom prst="ellipse">
            <a:avLst/>
          </a:prstGeom>
          <a:solidFill>
            <a:srgbClr val="3B82F6">
              <a:alpha val="11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743200"/>
            <a:ext cx="36576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237744"/>
            <a:ext cx="3108960" cy="256032"/>
          </a:xfrm>
          <a:prstGeom prst="rect">
            <a:avLst/>
          </a:prstGeom>
          <a:solidFill>
            <a:srgbClr val="8B5CF6">
              <a:alpha val="28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377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 ·  GENERATIVE AI FOUNDATIONS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9184" y="658368"/>
            <a:ext cx="8485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29184" y="1682496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&amp; Implementation Architecture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" y="2176272"/>
            <a:ext cx="8485632" cy="0"/>
          </a:xfrm>
          <a:prstGeom prst="line">
            <a:avLst/>
          </a:prstGeom>
          <a:noFill/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2359152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3B82F6">
              <a:alpha val="26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AI/ML/DL/GenAI Hierarchy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23744" y="2359152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6B6D4">
              <a:alpha val="26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Token Prediction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18304" y="2359152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8B5CF6">
              <a:alpha val="26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12864" y="2359152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0B981">
              <a:alpha val="26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" y="2834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F59E0B">
              <a:alpha val="26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Pipeline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23744" y="2834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EF4444">
              <a:alpha val="26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3744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Council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18304" y="2834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6B6D4">
              <a:alpha val="26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12864" y="2834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0B981">
              <a:alpha val="26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AI Ethics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" y="3419856"/>
            <a:ext cx="8485632" cy="274320"/>
          </a:xfrm>
          <a:prstGeom prst="rect">
            <a:avLst/>
          </a:prstGeom>
          <a:solidFill>
            <a:srgbClr val="0F204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419856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AgroPrice AI uses Gemini 2.5 Flash as its reasoning engine — grounded entirely on deterministic AGMARKNET data  ·  zero hallucination by design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0624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3B82F6">
              <a:alpha val="11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4572000" cy="36576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01  —  LANDSCAPE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Intelligence Hierarchy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206240" cy="3401568"/>
          </a:xfrm>
          <a:prstGeom prst="rect">
            <a:avLst/>
          </a:prstGeom>
          <a:solidFill>
            <a:srgbClr val="0D1A2E"/>
          </a:solidFill>
          <a:ln w="1778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3502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157276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systems, search, optimization, expert systems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" y="1609344"/>
            <a:ext cx="3657600" cy="2779776"/>
          </a:xfrm>
          <a:prstGeom prst="rect">
            <a:avLst/>
          </a:prstGeom>
          <a:solidFill>
            <a:srgbClr val="0D1A2E">
              <a:alpha val="80000"/>
            </a:srgbClr>
          </a:solidFill>
          <a:ln w="1778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66420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190195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learning from data — regression, classification, clustering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22960" y="1938528"/>
            <a:ext cx="3108960" cy="2139696"/>
          </a:xfrm>
          <a:prstGeom prst="rect">
            <a:avLst/>
          </a:prstGeom>
          <a:solidFill>
            <a:srgbClr val="0D1A2E">
              <a:alpha val="80000"/>
            </a:srgbClr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199339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50976" y="223113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— CNNs, RNNs, attention mechanisms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97280" y="2267712"/>
            <a:ext cx="2560320" cy="1463040"/>
          </a:xfrm>
          <a:prstGeom prst="rect">
            <a:avLst/>
          </a:prstGeom>
          <a:solidFill>
            <a:srgbClr val="0D1A2E">
              <a:alpha val="80000"/>
            </a:srgbClr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232257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25296" y="25603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text, images, code — Transformers, LLMs, diffusion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188720" y="3218688"/>
            <a:ext cx="2377440" cy="365760"/>
          </a:xfrm>
          <a:prstGeom prst="rect">
            <a:avLst/>
          </a:prstGeom>
          <a:solidFill>
            <a:srgbClr val="0A221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321868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AgroPrice AI sits here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280160"/>
            <a:ext cx="4187952" cy="87782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280160"/>
            <a:ext cx="54864" cy="8778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280160"/>
            <a:ext cx="402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0368" y="133502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159105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30368" y="177393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logic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30368" y="195681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from data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231136"/>
            <a:ext cx="4187952" cy="877824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231136"/>
            <a:ext cx="54864" cy="8778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231136"/>
            <a:ext cx="402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0368" y="22860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254203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data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30368" y="272491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needed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30368" y="290779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predictions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182112"/>
            <a:ext cx="4187952" cy="87782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182112"/>
            <a:ext cx="54864" cy="8778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182112"/>
            <a:ext cx="402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30368" y="323697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0368" y="349300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feature extraction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30368" y="367588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230368" y="385876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4133088"/>
            <a:ext cx="4187952" cy="87782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4133088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4133088"/>
            <a:ext cx="402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30368" y="41879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0368" y="4443984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novel language output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30368" y="4626864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with context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30368" y="4809744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in our system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solidFill>
            <a:srgbClr val="0F204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AgroPrice AI combines ALL four layers: DuckDB deterministic engine + Prophet/XGBoost ML + Gemini 2.5 Flash GenAI = Grounded Agricultural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4572000" cy="36576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2286000"/>
            <a:ext cx="41148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02  —  LLM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120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Architecture &amp; Token Prediction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94A3B8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88720"/>
            <a:ext cx="54864" cy="8412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Tomato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today?"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81912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45920" y="1188720"/>
            <a:ext cx="54864" cy="8412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Tokenizer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['What','is','Tom','ato','price']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71800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35808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35808" y="1188720"/>
            <a:ext cx="54864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Embedding Layer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27248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IDs → 768-dim vectors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61688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25696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25696" y="1188720"/>
            <a:ext cx="54864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17136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 Self-Attention layers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751576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15584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15584" y="1188720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Logit Head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07024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probability dist.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141464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05472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5472" y="1188720"/>
            <a:ext cx="54864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Token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96912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at temp=0.2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" y="2139696"/>
            <a:ext cx="8631936" cy="256032"/>
          </a:xfrm>
          <a:prstGeom prst="rect">
            <a:avLst/>
          </a:prstGeom>
          <a:solidFill>
            <a:srgbClr val="0A0D2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213969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Autoregressive: Each output token becomes input for the next — the model predicts ONE token at a time, left to right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2633472"/>
            <a:ext cx="2048256" cy="192024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2633472"/>
            <a:ext cx="54864" cy="1920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670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04672" y="26700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Attention Mechanism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84048" y="3072384"/>
            <a:ext cx="1828800" cy="0"/>
          </a:xfrm>
          <a:prstGeom prst="line">
            <a:avLst/>
          </a:prstGeom>
          <a:noFill/>
          <a:ln w="1016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127248"/>
            <a:ext cx="18470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lets each token 'look at' all other tokens in the context window simultaneously. This gives the model understanding of long-range dependencies — e.g. relating 'tomato' to 'price' 50 tokens earlier.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395728" y="2633472"/>
            <a:ext cx="2048256" cy="1920240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395728" y="2633472"/>
            <a:ext cx="54864" cy="1920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05456" y="2670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944368" y="26700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23744" y="3072384"/>
            <a:ext cx="1828800" cy="0"/>
          </a:xfrm>
          <a:prstGeom prst="line">
            <a:avLst/>
          </a:prstGeom>
          <a:noFill/>
          <a:ln w="1016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23744" y="3127248"/>
            <a:ext cx="18470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supports up to 1M tokens context. AgroPrice AI injects the full PromptContext (market data, forecasts, history, analytics) here — the LLM reasons over this window.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35424" y="2633472"/>
            <a:ext cx="2048256" cy="192024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35424" y="2633472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2670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084064" y="26700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Temperature (0.2)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3072384"/>
            <a:ext cx="1828800" cy="0"/>
          </a:xfrm>
          <a:prstGeom prst="line">
            <a:avLst/>
          </a:prstGeom>
          <a:noFill/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127248"/>
            <a:ext cx="18470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 output randomness. At temp=0.2, the model strongly prefers the highest-probability next token. Results are near-deterministic, consistent, and factual — critical for financial data narration.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675120" y="2633472"/>
            <a:ext cx="2048256" cy="192024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675120" y="2633472"/>
            <a:ext cx="54864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84848" y="2670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223760" y="26700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Autoregressive Gen.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03136" y="3072384"/>
            <a:ext cx="1828800" cy="0"/>
          </a:xfrm>
          <a:prstGeom prst="line">
            <a:avLst/>
          </a:prstGeom>
          <a:noFill/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03136" y="3127248"/>
            <a:ext cx="18470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generated token is appended to the input and the model runs again to predict the next. SSE streaming exploits this: each token is sent to the frontend as soon as it is generated, creating real-time typewriter output.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828800"/>
            <a:ext cx="5029200" cy="3657600"/>
          </a:xfrm>
          <a:prstGeom prst="ellipse">
            <a:avLst/>
          </a:prstGeom>
          <a:solidFill>
            <a:srgbClr val="10B981">
              <a:alpha val="11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4572000" cy="32004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03  —  AGRICULTURAL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Generative AI in Agriculture?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4114800" cy="3200400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3200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35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" y="1664208"/>
            <a:ext cx="3785616" cy="0"/>
          </a:xfrm>
          <a:prstGeom prst="line">
            <a:avLst/>
          </a:prstGeom>
          <a:noFill/>
          <a:ln w="1016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8288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" y="18470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Complexity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" y="2084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48.2M rows of raw price data across 5 states, 27 crops, 12 years. No farmer can read raw AGMARKNET tables and derive actionable decisions.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25420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25603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Time-Critical Decisions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" y="2798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Harvesting, transportation, and mandi selection are irreversible decisions made under time pressure. Delayed or wrong insight = direct financial loss.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0624" y="325526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32735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Expert Access Gap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" y="3511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market experts are scarce and expensive. 85% of South Indian farmers lack access to professional market advisory. GenAI democratizes expertise.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0624" y="396849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" y="39867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Multi-Variable Complexity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influenced by season, rainfall, transport, supply-demand, state policy, and market anomalies — too many variables for manual analysis.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407408" y="201168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07408" y="27249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07408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7408" y="41513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0016" y="1261872"/>
            <a:ext cx="4169664" cy="3200400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0016" y="1261872"/>
            <a:ext cx="54864" cy="3200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1335024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GENAI SOLUTION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64608" y="1664208"/>
            <a:ext cx="3822192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8288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85232" y="18470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Natural Language Narration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85232" y="20848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converts raw statistical metrics into plain-language advisory: 'Tomato prices show strong upward momentum with 18% growth in 7 days.'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25420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85232" y="256032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Decision Advisory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85232" y="279806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narrative is backed by real DuckDB data. No hallucinations. The LLM reasons ABOUT truth — it does not invent price forecasts or trends.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325526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85232" y="327355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Multi-Turn Conversational 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85232" y="35112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ask follow-up questions in natural language. Session memory preserves crop/state context across 10 turns (2h TTL) for continuity.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6320" y="396849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85232" y="398678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Persona-Adapted Responses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85232" y="42245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personas: Farmer (plain language), Trader (momentum), Wholesale (procurement), Analyst (statistical). Gemini adapts its response style per audience.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4572000"/>
            <a:ext cx="8631936" cy="256032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4572000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Agricultural intelligence previously available only to commodity traders is now accessible to every farmer via a conversational AI interface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5486400" cy="457200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4572000" cy="36576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04  —  GEMINI 2.5 FLASH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2.5 Flash — Model Architecture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80160"/>
            <a:ext cx="4169664" cy="3291840"/>
          </a:xfrm>
          <a:prstGeom prst="rect">
            <a:avLst/>
          </a:prstGeom>
          <a:solidFill>
            <a:srgbClr val="0D1A2E"/>
          </a:solidFill>
          <a:ln w="1778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80160"/>
            <a:ext cx="54864" cy="3291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35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9264" y="1335024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gemini-2.5-flash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9264" y="1682496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 ·  Multimodal Foundation Model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" y="1975104"/>
            <a:ext cx="3858768" cy="0"/>
          </a:xfrm>
          <a:prstGeom prst="line">
            <a:avLst/>
          </a:prstGeom>
          <a:noFill/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" y="2084832"/>
            <a:ext cx="3840480" cy="283464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8483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65376" y="2084832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2.x Flash (efficient tier)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65376" y="2377440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1,000,000 tokens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2670048"/>
            <a:ext cx="3840480" cy="283464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7004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65376" y="2670048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Code · Vision · Audio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9626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used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65376" y="2962656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2.8.0 (native async)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" y="3255264"/>
            <a:ext cx="3840480" cy="283464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5526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type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65376" y="3255264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client.aio.models.generate_content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54787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settings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65376" y="3547872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types.SafetySetting (4 categories)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2336" y="3840480"/>
            <a:ext cx="3840480" cy="283464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4048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65376" y="3840480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GeminiResult(text, error_type, ms)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13308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65376" y="4133088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structured: quota/key/safety/timeout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08576" y="1280160"/>
            <a:ext cx="4261104" cy="137160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128016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1335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Flash (not Pro or Ultra)?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73168" y="16642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has 1M token context — sufficient for full PromptContext injection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1883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Flash averages 2–4s · Pro takes 8–15s — critical for live advisory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2103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efficiency: Flash is 10× cheaper per token vs Pro at same context length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23225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disabled (budget=0) — narration task does not need deep reasoning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08576" y="2761488"/>
            <a:ext cx="4261104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08576" y="2761488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816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Multimodal Capability (used for text only in AgroPrice AI)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127248"/>
            <a:ext cx="3931920" cy="0"/>
          </a:xfrm>
          <a:prstGeom prst="line">
            <a:avLst/>
          </a:prstGeom>
          <a:noFill/>
          <a:ln w="10160">
            <a:solidFill>
              <a:srgbClr val="8B5CF6">
                <a:alpha val="3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2186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57216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(PRIMARY)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72784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advisory, narration, analysis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73168" y="35478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57216" y="3547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72784" y="3547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data is structured numeric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73168" y="38770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157216" y="38770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72784" y="3877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TTS/STT via Web Speech API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73168" y="4206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57216" y="4206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72784" y="4206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agricultural guardrails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6032" y="4663440"/>
            <a:ext cx="8631936" cy="237744"/>
          </a:xfrm>
          <a:prstGeom prst="rect">
            <a:avLst/>
          </a:prstGeom>
          <a:solidFill>
            <a:srgbClr val="090E1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4663440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AgroPrice AI uses Gemini purely for natural language narration — all numerical intelligence comes from DuckDB + Prophet/XGBoost, not the LLM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914400"/>
            <a:ext cx="5029200" cy="4572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572000" cy="36576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05  —  MODEL CONFIGURATION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Temperature &amp; Thinking Budget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4242816" cy="3401568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3401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31673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🌡  Temperature = 0.2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" y="1719072"/>
            <a:ext cx="3931920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82880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" y="2084832"/>
            <a:ext cx="3913632" cy="274320"/>
          </a:xfrm>
          <a:prstGeom prst="rect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" y="2084832"/>
            <a:ext cx="969264" cy="274320"/>
          </a:xfrm>
          <a:prstGeom prst="rect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9888" y="2084832"/>
            <a:ext cx="969264" cy="274320"/>
          </a:xfrm>
          <a:prstGeom prst="rect">
            <a:avLst/>
          </a:prstGeom>
          <a:solidFill>
            <a:srgbClr val="06B6D4">
              <a:alpha val="5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9152" y="2084832"/>
            <a:ext cx="969264" cy="274320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8416" y="2084832"/>
            <a:ext cx="1005840" cy="274320"/>
          </a:xfrm>
          <a:prstGeom prst="rect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3957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" y="256032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719072" y="23957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19072" y="256032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Setting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03704" y="2048256"/>
            <a:ext cx="0" cy="7315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195681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017520" y="23957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256032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15968" y="23957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15968" y="256032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0624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Near-deterministic output — same market data → same advisory tone every time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" y="303580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 risk — model strongly prefers factual tokens over creative ones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" y="327355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consistency — farmers see reliable, coherent responses across sessions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" y="35112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 (0.7+) would generate varied, creative answers — wrong for price data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0016" y="1261872"/>
            <a:ext cx="4169664" cy="3401568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0016" y="1261872"/>
            <a:ext cx="54864" cy="3401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31673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Thinking Budget = 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828032" y="1719072"/>
            <a:ext cx="3803904" cy="0"/>
          </a:xfrm>
          <a:prstGeom prst="line">
            <a:avLst/>
          </a:prstGeom>
          <a:noFill/>
          <a:ln w="1016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181051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THINKING BUDGET?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64608" y="2048256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has a built-in 'thinking' capability — internal chain-of-thought reasoning before generating output. The thinking_budget parameter (0 = disabled) controls how many tokens are allocated to this internal reasoning phase.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8032" y="2633472"/>
            <a:ext cx="1792224" cy="1499616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6883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Budget = AUTO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01184" y="29626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tokens: ~800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01184" y="3200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for response: ~44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01184" y="3438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176 chars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01184" y="3675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TRUNCATED ✗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29984" y="2633472"/>
            <a:ext cx="2029968" cy="1499616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268833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Budget = 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21424" y="296265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tokens: 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21424" y="320040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2048 for response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21424" y="343814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1325 chars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21424" y="367588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 ✓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64608" y="420624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disabled?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64608" y="440740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task — all facts are pre-injected. Gemini does not need to 'think'; it narrates. Thinking would only consume output token budget unnecessarily.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4681728"/>
            <a:ext cx="8631936" cy="219456"/>
          </a:xfrm>
          <a:prstGeom prst="rect">
            <a:avLst/>
          </a:prstGeom>
          <a:solidFill>
            <a:srgbClr val="090E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4681728"/>
            <a:ext cx="8266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effect: temp=0.2 + thinking_budget=0 = fast, deterministic, factual narration — ideal for financial agricultural advisory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5029200" cy="4114800"/>
          </a:xfrm>
          <a:prstGeom prst="ellipse">
            <a:avLst/>
          </a:prstGeom>
          <a:solidFill>
            <a:srgbClr val="06B6D4">
              <a:alpha val="11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572000" cy="36576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06  —  PROMPT CONTEXT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PromptContext — The Grounding Contract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PromptContext dataclass is the contract between the deterministic engine and the LLM layer. Every field comes from real data — never invented.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499616"/>
            <a:ext cx="4206240" cy="292608"/>
          </a:xfrm>
          <a:prstGeom prst="rect">
            <a:avLst/>
          </a:prstGeom>
          <a:solidFill>
            <a:srgbClr val="0814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996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DETERMINISTIC (from DuckDB)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5152" y="1499616"/>
            <a:ext cx="4224528" cy="292608"/>
          </a:xfrm>
          <a:prstGeom prst="rect">
            <a:avLst/>
          </a:prstGeom>
          <a:solidFill>
            <a:srgbClr val="0814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49961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🔢  COMPUTED (from Analytics Engine)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8653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8653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8836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20665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crop name (27-crop registry)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" y="23225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3225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340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" y="25237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Indian state (5 states)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27797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7797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7980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current_modal_price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29809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day's AVG(Modal_Price) from DuckDB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32369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2369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price_min_30d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" y="34381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MIN(y) over last 30 days in time series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6941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7124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price_max_30d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2336" y="38953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MAX(y) over last 30 days in time series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41513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41513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41696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historical_summary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2336" y="43525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retrieval: year/month avg prices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45152" y="18653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5152" y="1865376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18836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volatility_cv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91456" y="20665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= σ/μ × 100%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45152" y="23225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45152" y="2322576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23408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momentum_signal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91456" y="25237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compute_momentum_signal() 7d vs 30d avg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45152" y="27797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45152" y="2779776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seasonal_phase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91456" y="29809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| trough | normal from monthly profile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45152" y="32369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45152" y="3236976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32552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anomaly_events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91456" y="34381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spike/crash detections (90d window)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36941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45152" y="3694176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91456" y="37124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forecast_7d/30d/90d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91456" y="38953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Prophet/XGBoost predicted price + CI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45152" y="41513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45152" y="4151376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91456" y="41696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91456" y="43525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training depth + staleness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4626864"/>
            <a:ext cx="8631936" cy="274320"/>
          </a:xfrm>
          <a:prstGeom prst="rect">
            <a:avLst/>
          </a:prstGeom>
          <a:solidFill>
            <a:srgbClr val="0A1A0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" y="4626864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Boundary  ·  Gemini NEVER generates or modifies these values  ·  It only reasons ABOUT them in natural language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4572000" cy="3657600"/>
          </a:xfrm>
          <a:prstGeom prst="ellipse">
            <a:avLst/>
          </a:prstGeom>
          <a:solidFill>
            <a:srgbClr val="3B82F6">
              <a:alpha val="11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371600"/>
            <a:ext cx="50292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07  —  GROUNDING PIPELINE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Generation Pipeline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316736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94A3B8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16736"/>
            <a:ext cx="54864" cy="8046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38988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/advisor/ask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49424" y="16184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1316736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1316736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15184" y="138988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80944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 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80944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Injection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80560" y="16184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18304" y="1316736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1316736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38988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Memory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Crop/state inherit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11696" y="16184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1316736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1316736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77456" y="138988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77456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43216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Intent Classify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43216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2450592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245059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25237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" y="2523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 + Analytics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" y="28895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 data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249424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87168" y="2450592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87168" y="2450592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15184" y="25237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15184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80944" y="2523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Council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980944" y="28895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specialist agents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480560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18304" y="2450592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18304" y="245059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25237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12080" y="2523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PromptBuilder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12080" y="28895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11696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49440" y="2450592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949440" y="245059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77456" y="25237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77456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443216" y="2523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Narrates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443216" y="28895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temp=0.2, budget=0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62272" y="21579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480560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11696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56032" y="3419856"/>
            <a:ext cx="2761488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419856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" y="3419856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822960" y="34747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Hallucination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22960" y="371246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receives exact DuckDB values — cannot contradict pre-injected facts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200400" y="3419856"/>
            <a:ext cx="2761488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200400" y="3419856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28416" y="3419856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3767328" y="34747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Sub-5ms Guardrails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767328" y="371246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Off-domain queries rejected before Gemini is ever invoked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44768" y="3419856"/>
            <a:ext cx="2761488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144768" y="3419856"/>
            <a:ext cx="54864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72784" y="3419856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6711696" y="34747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Audit Trail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711696" y="371246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reasoning_trace captures every stage: crop→intent→trend→confidence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56032" y="4389120"/>
            <a:ext cx="8631936" cy="274320"/>
          </a:xfrm>
          <a:prstGeom prst="rect">
            <a:avLst/>
          </a:prstGeom>
          <a:solidFill>
            <a:srgbClr val="0A1A10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" y="4389120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→  AdvisorResponse {answer, intent, sources, grounded:true, error_type, latency_ms, agent_insights, reasoning_trace}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56032" y="46817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"Gemini narrates ABOUT the data — it does not create the data"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45720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08  —  PROMPT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 &amp; Persona Framing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4187952" cy="3383280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3383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31673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ANATOMY (Section Order)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27632"/>
            <a:ext cx="3877056" cy="0"/>
          </a:xfrm>
          <a:prstGeom prst="line">
            <a:avLst/>
          </a:prstGeom>
          <a:noFill/>
          <a:ln w="1016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80136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177393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Framing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195681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communication style set FIRST — frames everything after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2336" y="216712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13969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Identity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32257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are an expert agricultural market analyst for South India...'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2336" y="253288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250545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Section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268833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price, 30d range, trend direction, momentum signal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2336" y="289864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287121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05409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/ 30d / 90d predictions with confidence intervals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2336" y="326440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323697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Signals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341985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/ CONTRADICTION / MIXED agent signal pairs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02336" y="363016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360273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Narrative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378561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reliability: training depth, CV, staleness, tier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02336" y="399592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396849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+ Historical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" y="415137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Spike/crash events, AGMARKNET historical comparisons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" y="436168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4361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433425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Style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451713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question + output format constraints + domain lock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26864" y="126187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ANALYST PERSONAS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26864" y="1554480"/>
            <a:ext cx="424281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26864" y="1554480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1554480"/>
            <a:ext cx="420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193792" y="1645920"/>
            <a:ext cx="91440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93792" y="1645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63056" y="16276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action-oriented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93792" y="190195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timing · local mandi pricing · perishability · when to sell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26864" y="2359152"/>
            <a:ext cx="424281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26864" y="2359152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2359152"/>
            <a:ext cx="420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193792" y="2450592"/>
            <a:ext cx="914400" cy="201168"/>
          </a:xfrm>
          <a:prstGeom prst="roundRect">
            <a:avLst>
              <a:gd name="adj" fmla="val 5454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93792" y="2450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63056" y="24323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Commercial, momentum-focused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93792" y="270662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7–30d price trajectory · volatility as opportunity · bulk decision timing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26864" y="3163824"/>
            <a:ext cx="424281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26864" y="3163824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36592" y="3163824"/>
            <a:ext cx="420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5193792" y="3255264"/>
            <a:ext cx="91440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93792" y="32552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163056" y="323697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Supply-chain, cost-conscious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93792" y="35112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timing · bulk pricing · cold storage · cross-market sourcing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26864" y="3968496"/>
            <a:ext cx="424281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26864" y="3968496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36592" y="3968496"/>
            <a:ext cx="420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193792" y="4059936"/>
            <a:ext cx="91440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93792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163056" y="40416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brief, statistical rigour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193792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CV citation · structured Outlook → Risk → Recommendation format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4645152"/>
            <a:ext cx="8631936" cy="256032"/>
          </a:xfrm>
          <a:prstGeom prst="rect">
            <a:avLst/>
          </a:prstGeom>
          <a:solidFill>
            <a:srgbClr val="140A0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" y="4645152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Domain Lock: coding, politics, crypto, medical, legal, recipes, entertainment  →  ALL rejected by guardrails before Gemini is invoked  ·  Response time: ~4ms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1828800"/>
            <a:ext cx="45720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09  —  RAG-LIKE GROUNDING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Grounding vs Hallucination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1719072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43584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24358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1719072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16916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1243584"/>
            <a:ext cx="1719072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243584"/>
            <a:ext cx="54864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24358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77440" y="1719072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41648" y="16916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15968" y="1243584"/>
            <a:ext cx="1719072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15968" y="1243584"/>
            <a:ext cx="54864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124358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07408" y="1719072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Assembly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71616" y="16916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45936" y="1243584"/>
            <a:ext cx="1719072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45936" y="1243584"/>
            <a:ext cx="54864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124358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37376" y="1719072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 Flash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01584" y="16916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75904" y="1243584"/>
            <a:ext cx="1719072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75904" y="1243584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49056" y="124358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67344" y="1719072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505456"/>
            <a:ext cx="4206240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2505456"/>
            <a:ext cx="54864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25603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🔎  Traditional RAG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2336" y="2871216"/>
            <a:ext cx="3877056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29443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unstructured text chunks from vector DB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0624" y="323697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relevance — cosine similarity only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0624" y="352958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risk: LLM may ignore retrieved context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0624" y="382219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may miss critical numeric values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0624" y="41148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for knowledge-base Q&amp;A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45152" y="2505456"/>
            <a:ext cx="4224528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45152" y="2505456"/>
            <a:ext cx="54864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25603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AgroPrice Deterministic Grounding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91456" y="2871216"/>
            <a:ext cx="3895344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29443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exact SQL results from DuckDB (zero ambiguity)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9744" y="32369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numeric values: price=₹1,234/qtl, CV=28.4%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9744" y="352958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hallucination: Gemini only narrates pre-injected data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9744" y="382219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context: 12 typed PromptContext fields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09744" y="41148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financial time-series narration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6032" y="4791456"/>
            <a:ext cx="8631936" cy="237744"/>
          </a:xfrm>
          <a:prstGeom prst="rect">
            <a:avLst/>
          </a:prstGeom>
          <a:solidFill>
            <a:srgbClr val="0A1A10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4791456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AgroPrice AI retrieves structured numeric facts, not prose chunks — Gemini narrates facts it cannot contradict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4572000" cy="41148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1828800"/>
            <a:ext cx="4572000" cy="36576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10  —  MULTI-AGENT COUNCIL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7-Agent Specialist Council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353312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261872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 Analyst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07008" y="1536192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1536192"/>
            <a:ext cx="804672" cy="109728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1645920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22%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108960" y="1298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direction from momentum + 30d vs 90d rate comparison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0" y="15361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STRONG_BULLISH / BULLISH / MILD_BULLISH / NEUTRAL / BEARISH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455664" y="1353312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35331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STRONG_BULLISH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1783080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1783080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1874520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178308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7008" y="1819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Analyst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07008" y="2057400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7008" y="2057400"/>
            <a:ext cx="658368" cy="10972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" y="2167128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18%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108960" y="18196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CV + anomaly cluster count + tier risk scoring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0" y="20574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LOW_RISK / MODERATE / HIGH_RISK / EXTREME_RISK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55664" y="1874520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EF4444">
              <a:alpha val="22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18745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LOW_RISK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2304288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2304288"/>
            <a:ext cx="54864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239572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" y="2304288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07008" y="2340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Seasonal Analyst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207008" y="2578608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07008" y="2578608"/>
            <a:ext cx="548640" cy="109728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07008" y="2688336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15%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108960" y="23408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phase positioning: peak / trough / lean / normal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108960" y="2578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DEEP_PEAK / PEAK_SEASON / LEAN / DEEP_TROUGH / NORMAL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455664" y="2395728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55664" y="239572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DEEP_PEAK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" y="2825496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2825496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2916936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9808" y="282549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07008" y="2862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Supply/Demand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207008" y="3099816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07008" y="3099816"/>
            <a:ext cx="548640" cy="10972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07008" y="3209544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15%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108960" y="28620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Price-vs-year-average inference (no arrival data in AGMARKNET)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108960" y="30998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/ BEARISH / NEUTRAL (inferred from momentum)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455664" y="2916936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55664" y="29169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BULLISH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6032" y="3346704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" y="3346704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4048" y="34381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49808" y="3346704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207008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Volatility Analyst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207008" y="3621024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07008" y="3621024"/>
            <a:ext cx="438912" cy="109728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07008" y="373075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12%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108960" y="3383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patterns, recent price standard deviation analysis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108960" y="36210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Risk + Confidence engines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455664" y="3438144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55664" y="343814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Inputs to Risk + Confidence engines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3867912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6032" y="3867912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4048" y="3959352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048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49808" y="3867912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207008" y="3904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Opportunity Analyst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207008" y="4142232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07008" y="4142232"/>
            <a:ext cx="365760" cy="109728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207008" y="4251960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10%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108960" y="3904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 from combined signal synthesis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108960" y="41422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0–100 (weighted composite)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455664" y="3959352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55664" y="39593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0–100 (weighted composite)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56032" y="4389120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56032" y="4389120"/>
            <a:ext cx="54864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4048" y="4480560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4048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49808" y="438912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207008" y="4425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 Reliability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207008" y="4663440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207008" y="4663440"/>
            <a:ext cx="292608" cy="109728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207008" y="4773168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8%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3108960" y="44256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depth (rows), data staleness, model tier (A/B/C/D)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3108960" y="46634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score + confidence label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455664" y="4480560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94A3B8">
              <a:alpha val="22000"/>
            </a:srgbClr>
          </a:solidFill>
          <a:ln w="1016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55664" y="448056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Reliability score + confidence label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256032" y="4937760"/>
            <a:ext cx="8631936" cy="201168"/>
          </a:xfrm>
          <a:prstGeom prst="rect">
            <a:avLst/>
          </a:prstGeom>
          <a:solidFill>
            <a:srgbClr val="0F204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8912" y="4937760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 → CouncilResult { dominant_view, minority_view, contradiction_detected, consensus_strength, dissent_agents, weighted_recommendation }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5029200" cy="45720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4572000" cy="36576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11  —  CONSENSUS ENGINE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Consensus &amp; Correlation Intelligence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4187952" cy="3383280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3383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31673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CONSENSUS SCORING 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27632"/>
            <a:ext cx="3858768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81051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177393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Verdicts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19933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7 agents returns: stance (BULLISH/BEARISH/etc.), confidence score (0–100), and reasoning bullets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2336" y="2395728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35915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578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weighted_score = Σ(agent.confidence × agent.weight) / Σ weights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weights sum to 1.00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2336" y="2980944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294436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Strength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316382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ratio: if 5/7 agents agree = 71% consensus. Below 40% triggers contradiction_detected=True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2336" y="3566160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352958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Collapse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37490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CV&gt;45% AND anomaly_count&gt;3 AND trend contradicts season → confidence collapses to 'low' regardless of scores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2336" y="4151376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411480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" y="433425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SELL_NOW / SELL_SOON / HOLD / WAIT / WATCH based on weighted vote + opportunity score + seasonal timing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45152" y="1261872"/>
            <a:ext cx="4224528" cy="3383280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45152" y="1261872"/>
            <a:ext cx="54864" cy="3383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131673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SIGNAL TYPES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1627632"/>
            <a:ext cx="3895344" cy="0"/>
          </a:xfrm>
          <a:prstGeom prst="line">
            <a:avLst/>
          </a:prstGeom>
          <a:noFill/>
          <a:ln w="1016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1755648"/>
            <a:ext cx="3986784" cy="713232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755648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30368" y="1828800"/>
            <a:ext cx="118872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4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230368" y="2066544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momentum + peak season → double confirmation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30368" y="2249424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Gemini's confidence in recommendation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73168" y="2523744"/>
            <a:ext cx="3986784" cy="713232"/>
          </a:xfrm>
          <a:prstGeom prst="rect">
            <a:avLst/>
          </a:prstGeom>
          <a:solidFill>
            <a:srgbClr val="0F2040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523744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30368" y="2596896"/>
            <a:ext cx="1188720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24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2596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230368" y="2834640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trend + peak season → season should push prices up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30368" y="3017520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advises caution; acknowledges conflicting signals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73168" y="3291840"/>
            <a:ext cx="3986784" cy="713232"/>
          </a:xfrm>
          <a:prstGeom prst="rect">
            <a:avLst/>
          </a:prstGeom>
          <a:solidFill>
            <a:srgbClr val="0F20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291840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230368" y="3364992"/>
            <a:ext cx="1188720" cy="201168"/>
          </a:xfrm>
          <a:prstGeom prst="roundRect">
            <a:avLst>
              <a:gd name="adj" fmla="val 54545"/>
            </a:avLst>
          </a:prstGeom>
          <a:solidFill>
            <a:srgbClr val="F59E0B">
              <a:alpha val="24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0368" y="3364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SIGNAL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230368" y="3602736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 + high volatility → opportunity but risky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230368" y="3785616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presents both sides without false certainty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73168" y="4059936"/>
            <a:ext cx="3986784" cy="713232"/>
          </a:xfrm>
          <a:prstGeom prst="rect">
            <a:avLst/>
          </a:prstGeom>
          <a:solidFill>
            <a:srgbClr val="0F204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059936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230368" y="4133088"/>
            <a:ext cx="118872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24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0368" y="4133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CONTEXT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230368" y="4370832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anomalies alongside upward trend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30368" y="4553712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contextualizes anomalies historically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6032" y="4736592"/>
            <a:ext cx="8631936" cy="237744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4736592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correlation signals injected into PromptContext.correlation_signals → Gemini cites them explicitly in advisory ('confirming', 'however', 'despite') for nuanced narration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5486400" cy="4114800"/>
          </a:xfrm>
          <a:prstGeom prst="ellipse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5029200" cy="36576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12  —  EXPLAINABLE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 (XAI) in Agriculture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8631936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43584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243584"/>
            <a:ext cx="8357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XAI? In agriculture, a wrong recommendation means real crop loss, unsold inventory, or wrong harvest timing. Farmers need to TRUST the AI's reasoning — not just its verdict.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17922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DECISION AUDIT PIPELINE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084832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084832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13055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0848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22576" y="208483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 DuckDB price → verified numeric source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487168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487168"/>
            <a:ext cx="54864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532888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248716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22576" y="248716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functions → volatility, momentum, season, anomalies, quality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2889504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889504"/>
            <a:ext cx="5486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2935224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288950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Verdicts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22576" y="2889504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 agents → individual stances with confidence scores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291840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291840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3337560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32918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Check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22576" y="329184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Cross-agent signal alignment → CONFIRMING / CONTRADICTION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3694176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694176"/>
            <a:ext cx="54864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739896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369417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22576" y="3694176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Confidence engine → contributor / detractor bullets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4096512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4096512"/>
            <a:ext cx="54864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414223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409651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322576" y="409651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crop|state|intent|trend|risk|seasonal|confidence|correlations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656832" y="1792224"/>
            <a:ext cx="2212848" cy="2523744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656832" y="1792224"/>
            <a:ext cx="54864" cy="2523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184708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XAI Features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03136" y="2139696"/>
            <a:ext cx="1920240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03136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Trace Panel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03136" y="25237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Council View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03136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Engine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03136" y="3145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Signals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03136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 Bar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03136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Chips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6032" y="4169664"/>
            <a:ext cx="8631936" cy="585216"/>
          </a:xfrm>
          <a:prstGeom prst="rect">
            <a:avLst/>
          </a:prstGeom>
          <a:solidFill>
            <a:srgbClr val="0A0D2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" y="4187952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EXAMPLE (injected into every advisory response)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20624" y="4389120"/>
            <a:ext cx="8266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"crop: Tomato  |  state: Karnataka  |  intent: price_now  |  trend: BULLISH (72%)  |  risk: MODERATE (58%)  |  seasonal: PEAK_SEASON (91%)  |  confidence: high (74%)  |  correlations: 2 CONFIRMING"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50292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371600"/>
            <a:ext cx="50292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13  —  STREAMING INFERENCE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 Streaming &amp; Real-Time Inference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async generator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0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01368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01368" y="1261872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11096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 /ask/stream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SSE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91256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46704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46704" y="126187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_prepare_query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_context()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26187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generate_stream()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API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81928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37376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7376" y="126187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 chunks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 events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27264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82712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82712" y="126187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Streaming UI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'typewriter'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" y="22128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 PROTOCOL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505456"/>
            <a:ext cx="8631936" cy="713232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2505456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2596896"/>
            <a:ext cx="73152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596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88720" y="2560320"/>
            <a:ext cx="753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{"type": "token", "token": "Current Tomato prices show..."}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88720" y="2852928"/>
            <a:ext cx="7534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for EVERY chunk received from Gemini stream — appended to message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3273552"/>
            <a:ext cx="8631936" cy="713232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3273552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3364992"/>
            <a:ext cx="73152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3649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88720" y="3328416"/>
            <a:ext cx="753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{"type": "done", "intent": "price_now", "grounded": true, "latency_ms": 2341, "agent_insights": {...}, "reasoning_trace": "..."}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88720" y="3621024"/>
            <a:ext cx="7534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ONCE when stream ends — triggers executive summary cards + reasoning panel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4041648"/>
            <a:ext cx="8631936" cy="713232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" y="4041648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" y="4133088"/>
            <a:ext cx="731520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22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1330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88720" y="4096512"/>
            <a:ext cx="753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{"type": "error", "error_type": "quota_exceeded", "message": "..."}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88720" y="4389120"/>
            <a:ext cx="7534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pipeline failure — frontend shows GeminiErrorBadge with actionable message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6032" y="4828032"/>
            <a:ext cx="8631936" cy="237744"/>
          </a:xfrm>
          <a:prstGeom prst="rect">
            <a:avLst/>
          </a:prstGeom>
          <a:solidFill>
            <a:srgbClr val="080F1A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4828032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AbortController: clearing chat or sending a new message cancels the in-flight SSE stream instantly  ·  Vite proxy bypassed: streaming uses native fetch() directly to :8001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5486400" cy="4572000"/>
          </a:xfrm>
          <a:prstGeom prst="ellipse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0"/>
            <a:ext cx="4572000" cy="3657600"/>
          </a:xfrm>
          <a:prstGeom prst="ellipse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14  —  AGRICULTURAL AI ETHICS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Responsible AI in Agriculture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solidFill>
            <a:srgbClr val="18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261872"/>
            <a:ext cx="8266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HALLUCINATION IN AGRICULTURE = DIRECT FINANCIAL HARM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463040"/>
            <a:ext cx="8266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₹200/kg Tomato price could cause a farmer to hold crops until they perish, or sell when they should hold — irreversible real-world consequence.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810512"/>
            <a:ext cx="4242816" cy="1261872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810512"/>
            <a:ext cx="54864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6112" y="1883664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Deterministic Grounding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249424"/>
            <a:ext cx="3968496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22576"/>
            <a:ext cx="4005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Gemini uses comes from DuckDB — not generated from imagination. PromptContext fields are typed and verified before injection.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81728" y="1810512"/>
            <a:ext cx="4242816" cy="1261872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1810512"/>
            <a:ext cx="54864" cy="1261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21808" y="1883664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Domain Isolation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9744" y="2249424"/>
            <a:ext cx="3968496" cy="0"/>
          </a:xfrm>
          <a:prstGeom prst="line">
            <a:avLst/>
          </a:prstGeom>
          <a:noFill/>
          <a:ln w="1016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322576"/>
            <a:ext cx="4005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block non-agricultural queries at millisecond speed (before Gemini is invoked). Coding, crypto, medical, political topics are categorically rejected.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163824"/>
            <a:ext cx="4242816" cy="1261872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163824"/>
            <a:ext cx="5486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96112" y="3236976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4048" y="3602736"/>
            <a:ext cx="3968496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675888"/>
            <a:ext cx="4005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includes a reasoning_trace (pipe-separated decision log), agent verdicts, confidence scores, and correlation signals — fully traceable.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3163824"/>
            <a:ext cx="4242816" cy="1261872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3163824"/>
            <a:ext cx="54864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21808" y="3236976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Structured Uncertainty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9744" y="3602736"/>
            <a:ext cx="3968496" cy="0"/>
          </a:xfrm>
          <a:prstGeom prst="line">
            <a:avLst/>
          </a:prstGeom>
          <a:noFill/>
          <a:ln w="1016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3675888"/>
            <a:ext cx="4005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insufficient, the system acknowledges it honestly ('data quality is low for this crop-state pair') rather than generating confident-sounding fiction.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4553712"/>
            <a:ext cx="8631936" cy="493776"/>
          </a:xfrm>
          <a:prstGeom prst="rect">
            <a:avLst/>
          </a:prstGeom>
          <a:solidFill>
            <a:srgbClr val="0A1A10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4572000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Responsible AI Commitment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" y="4773168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output · Structured uncertainty · Explainable decisions · Agricultural domain lock · Zero LLM-invented numbers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AgroPrice AI — Generative AI Theory</dc:title>
  <dc:subject>PptxGenJS Presentation</dc:subject>
  <dc:creator>S. Abhilash</dc:creator>
  <cp:lastModifiedBy>S. Abhilash</cp:lastModifiedBy>
  <cp:revision>1</cp:revision>
  <dcterms:created xsi:type="dcterms:W3CDTF">2026-06-15T23:27:39Z</dcterms:created>
  <dcterms:modified xsi:type="dcterms:W3CDTF">2026-06-15T23:27:39Z</dcterms:modified>
</cp:coreProperties>
</file>