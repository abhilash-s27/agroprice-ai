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025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3B82F6">
              <a:alpha val="3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3B82F6">
              <a:alpha val="2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30  ·  QUANTITATIVE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Numbers — AgroPrice AI at Scale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performance across data depth · model accuracy · system reliability · intelligence coverage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86968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86968"/>
            <a:ext cx="45720" cy="10607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941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02336" y="1491569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AGMARKNET Records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2336" y="1714317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2015–2026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377440" y="886968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77440" y="886968"/>
            <a:ext cx="45720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05456" y="941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05456" y="1491569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Crop Varieties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05456" y="1714317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A/B/C/D registry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480560" y="886968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886968"/>
            <a:ext cx="45720" cy="10607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941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08576" y="1491569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South Indian States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8576" y="1714317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· KA · AP · KL · TS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583680" y="886968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886968"/>
            <a:ext cx="45720" cy="10607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941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Yrs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11696" y="1491569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Historical Depth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11696" y="1714317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2015 – Apr 2026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74320" y="2020824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020824"/>
            <a:ext cx="45720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207568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02336" y="2625425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2336" y="2848173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XGBoost + Sparse-Trend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377440" y="2020824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377440" y="2020824"/>
            <a:ext cx="45720" cy="10607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05456" y="207568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2505456" y="2625425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Council Agents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505456" y="2848173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Weighted consensus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480560" y="2020824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80560" y="2020824"/>
            <a:ext cx="45720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07568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608576" y="2625425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Continuity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08576" y="2848173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consistency score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583680" y="2020824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83680" y="2020824"/>
            <a:ext cx="45720" cy="10607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11696" y="207568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78/100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711696" y="2625425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Confidence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11696" y="2848173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across 27 crops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274320" y="3154680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74320" y="3154680"/>
            <a:ext cx="45720" cy="10607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" y="320954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&lt;3s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402336" y="3759281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Response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02336" y="3982029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 delivery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2377440" y="3154680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377440" y="3154680"/>
            <a:ext cx="45720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05456" y="320954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2505456" y="3759281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 Types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05456" y="3982029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→ Panic regime map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480560" y="3154680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480560" y="3154680"/>
            <a:ext cx="45720" cy="10607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08576" y="320954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4608576" y="3759281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Anomalies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08576" y="3982029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live dataset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583680" y="3154680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583680" y="3154680"/>
            <a:ext cx="45720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11696" y="320954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6711696" y="3759281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Phases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711696" y="3982029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2026 · MCA Project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274320" y="4681728"/>
            <a:ext cx="1664208" cy="201168"/>
          </a:xfrm>
          <a:prstGeom prst="rect">
            <a:avLst/>
          </a:prstGeom>
          <a:solidFill>
            <a:srgbClr val="0D1A2E"/>
          </a:solidFill>
          <a:ln w="1651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47472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AGMARKNET · 2015–2026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993392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2066544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Query Engine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712464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3785616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· XGBoost · Sparse-Trend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431536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5504688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SSE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150608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7223760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7-Agent Council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31  ·  QUALITATIVE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Quality — Intelligence, Integrity &amp; Experience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· guardrails · explainability · user experience · agentic design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86968"/>
            <a:ext cx="36576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886968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932688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1124712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Gemini response is grounded on DuckDB facts. The LLM narrates data — it never generates prices, forecasts, or volatility values independently.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1152144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10B981">
              <a:alpha val="3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15214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746504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746504"/>
            <a:ext cx="36576" cy="7680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746504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1792224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Domain Security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1984248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guardrails block 100% of off-topic queries (coding, finance, medical, politics) before Gemini is ever invoked. &lt;4ms rejection latency.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0" y="2011680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06B6D4">
              <a:alpha val="3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0116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2606040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606040"/>
            <a:ext cx="36576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606040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265176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Analyst Personas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" y="2843784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audience-specific modes — Farmer (plain language), Trader (momentum focus), Wholesale (procurement), Analyst (Bloomberg-style statistical brief).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0" y="287121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3B82F6">
              <a:alpha val="3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2871216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465576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465576"/>
            <a:ext cx="36576" cy="7680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465576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" y="3511296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Contextual Memory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" y="3703320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Session-aware 2h TTL memory. Crop/state inheritance across turns. Topic chain tracks conversation arc. Redis opt-in for multi-process deployments.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657600" y="3730752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8B5CF6">
              <a:alpha val="3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373075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886968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886968"/>
            <a:ext cx="36576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886968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57216" y="932688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Streaming Intelligence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57216" y="1124712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real-time token delivery via /ask/stream. AbortController cancellation. Typing cursor animation. Executive cards render only after stream completes.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156448" y="1152144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F59E0B">
              <a:alpha val="30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56448" y="115214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1746504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1746504"/>
            <a:ext cx="36576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1746504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157216" y="1792224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57216" y="1984248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7-stage decision trace per query: data ingestion → cleaning → classification → engine → confidence → narrative → output. Every decision auditable.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156448" y="2011680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10B981">
              <a:alpha val="3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56448" y="20116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2606040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2606040"/>
            <a:ext cx="36576" cy="7680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2606040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🎙️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157216" y="265176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Interface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57216" y="2843784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STT (Chrome/Edge) + speechSynthesis TTS in Indian English (en-IN). Markdown stripped before speaking. Unmount-safe stateless hooks.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156448" y="287121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06B6D4">
              <a:alpha val="3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56448" y="2871216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54880" y="3465576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754880" y="3465576"/>
            <a:ext cx="36576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64608" y="3465576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157216" y="3511296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UX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57216" y="3703320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Terminal aesthetic. 7-zone command center. Immersive mode. Density toggles (compact/balanced/expanded). Priority-sorted insight cards.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156448" y="3730752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3B82F6">
              <a:alpha val="3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56448" y="373075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553712" y="868680"/>
            <a:ext cx="0" cy="3474720"/>
          </a:xfrm>
          <a:prstGeom prst="line">
            <a:avLst/>
          </a:prstGeom>
          <a:noFill/>
          <a:ln w="10160">
            <a:solidFill>
              <a:srgbClr val="2A4A7A">
                <a:alpha val="6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4681728"/>
            <a:ext cx="1664208" cy="201168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347472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Grounding Architecture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993392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066544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· Zero Injection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712464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3785616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Analyst Personas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431536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504688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Decision Trace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150608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7223760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STT · TTS · en-IN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06B6D4">
              <a:alpha val="3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06B6D4">
              <a:alpha val="2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32  ·  COMPARISONS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AI vs Existing Solutions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 comparison against current agricultural market information systems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77824"/>
            <a:ext cx="8631936" cy="310896"/>
          </a:xfrm>
          <a:prstGeom prst="rect">
            <a:avLst/>
          </a:prstGeom>
          <a:solidFill>
            <a:srgbClr val="0F2040"/>
          </a:solidFill>
          <a:ln w="15240">
            <a:solidFill>
              <a:srgbClr val="2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77824"/>
            <a:ext cx="2798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18688" y="877824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84064" y="877824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Agmarknet Portal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0" y="877824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eNAM Platform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207008"/>
            <a:ext cx="8631936" cy="365760"/>
          </a:xfrm>
          <a:prstGeom prst="rect">
            <a:avLst/>
          </a:prstGeom>
          <a:solidFill>
            <a:srgbClr val="0D1A2E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207008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Forecasting (7/30/90d)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18688" y="12070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Prophet + XGBoost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84064" y="12070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949440" y="12070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1591056"/>
            <a:ext cx="8631936" cy="365760"/>
          </a:xfrm>
          <a:prstGeom prst="rect">
            <a:avLst/>
          </a:prstGeom>
          <a:solidFill>
            <a:srgbClr val="07101F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591056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Conversational 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18688" y="159105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Gemini 2.5 Flash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84064" y="159105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49440" y="159105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1975104"/>
            <a:ext cx="8631936" cy="365760"/>
          </a:xfrm>
          <a:prstGeom prst="rect">
            <a:avLst/>
          </a:prstGeom>
          <a:solidFill>
            <a:srgbClr val="0D1A2E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1975104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Analysis (10+ years)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18688" y="197510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2015–2026 AGMARKNET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84064" y="197510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Basic query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949440" y="197510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3–5 years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" y="2359152"/>
            <a:ext cx="8631936" cy="365760"/>
          </a:xfrm>
          <a:prstGeom prst="rect">
            <a:avLst/>
          </a:prstGeom>
          <a:solidFill>
            <a:srgbClr val="07101F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359152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Intelligence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18688" y="235915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7-Agent Council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84064" y="235915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949440" y="235915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6032" y="2743200"/>
            <a:ext cx="8631936" cy="365760"/>
          </a:xfrm>
          <a:prstGeom prst="rect">
            <a:avLst/>
          </a:prstGeom>
          <a:solidFill>
            <a:srgbClr val="0D1A2E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743200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/ Output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18688" y="27432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STT + TTS (en-IN)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084064" y="27432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949440" y="27432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" y="3127248"/>
            <a:ext cx="8631936" cy="365760"/>
          </a:xfrm>
          <a:prstGeom prst="rect">
            <a:avLst/>
          </a:prstGeom>
          <a:solidFill>
            <a:srgbClr val="07101F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127248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 (PDF + Excel)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18688" y="312724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AI-Narrated Reports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84064" y="312724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CSV only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49440" y="312724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PDF only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6032" y="3511296"/>
            <a:ext cx="8631936" cy="365760"/>
          </a:xfrm>
          <a:prstGeom prst="rect">
            <a:avLst/>
          </a:prstGeom>
          <a:solidFill>
            <a:srgbClr val="0D1A2E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511296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18688" y="351129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90-day z-score scan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084064" y="351129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949440" y="351129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6032" y="3895344"/>
            <a:ext cx="8631936" cy="365760"/>
          </a:xfrm>
          <a:prstGeom prst="rect">
            <a:avLst/>
          </a:prstGeom>
          <a:solidFill>
            <a:srgbClr val="07101F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895344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Pipeline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18688" y="389534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7-stage trace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084064" y="389534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949440" y="389534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74320" y="433425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Support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834640" y="433425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394960" y="433425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Available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EF4444">
              <a:alpha val="3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EF4444">
              <a:alpha val="20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33  ·  CHALLENGES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Obstacles We Encountered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modelling · AI safety · infrastructure · domain constraints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978408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EF4444">
              <a:alpha val="28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784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" y="960120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Sparsity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252728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mandis report intermittently — some crops show months-long gaps. Irregular time-series breaks standard ML assumptions and degrades Prophet forecasts on thin datasets</a:t>
            </a: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80560" y="886968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978408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2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9784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9472" y="960120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Extreme Price Volatility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0288" y="1252728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CV = 54.7%. Prices swing ₹200→₹5,500/qtl within weeks. High volatility widens confidence intervals and reduces forecast reliability for perishable crops.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130552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22199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EF4444">
              <a:alpha val="28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2199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" y="2203704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Hallucination Risk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496312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confidently invent plausible-sounding prices and forecasts. Without architectural grounding, Gemini would fabricate numbers rather than narrate real AGMARKNET data</a:t>
            </a: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80560" y="2130552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222199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28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222199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2203704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Cold-Start Problem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90288" y="2496312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crops entering the registry (Tier C/D) have &lt;1 year of data. Prophet requires 2+ seasonal cycles; XGBoost needs &gt;500 training rows for reliable gradient boosting.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374136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465576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06B6D4">
              <a:alpha val="28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46557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" y="3447288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Rural Connectivity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739896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(farmers, mandi traders) often have 2G connections. Heavy SPA bundles and cloud-dependent AI responses create latency barriers in rural South India.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3374136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90288" y="3465576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2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346557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19472" y="3447288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Cross-State Heterogeneity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90288" y="3739896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in Kerala trades at 3× Telangana prices for identical quality. A single pan-India model fails; per-state modelling multiplies compute and maintenance complexity.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681728"/>
            <a:ext cx="1664208" cy="201168"/>
          </a:xfrm>
          <a:prstGeom prst="rect">
            <a:avLst/>
          </a:prstGeom>
          <a:solidFill>
            <a:srgbClr val="0D1A2E"/>
          </a:solidFill>
          <a:ln w="1651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7472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Core Challenges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993392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066544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712464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785616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Robustness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31536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04688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Safety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150608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223760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34  ·  SOLUTIONS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Solved Each Challenge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decisions · custom models · grounding framework · tier system · local-first design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978408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10B981">
              <a:alpha val="28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784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" y="960120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Sparse-Trend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252728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third forecasting model purpose-built for irregular series. Falls back from Prophet → XGBoost → Sparse-Trend based on data depth. Tier A/B/C/D registry ensures graceful degradation</a:t>
            </a: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80560" y="886968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978408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06B6D4">
              <a:alpha val="28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9784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9472" y="960120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Volatility-Aware Scoring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0288" y="1252728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engine weights CV, anomaly count, training rows, and forecast model tier. High-CV crops (Tomato) receive lower confidence scores with wider confidence intervals shown to users.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130552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22199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10B981">
              <a:alpha val="28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2199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" y="2203704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Deterministic Grounding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496312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boundary: LLM receives pre-computed AGMARKNET facts via PromptContext and narrates — it never generates numbers. 7-stage trace makes every decision auditable end-to-end.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2130552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222199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28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222199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2203704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Crop Tier Registry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90288" y="2496312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crops classified Tier A (5+ years, daily) → Tier D (sparse, seasonal only). Tier controls model selection, confidence floors, and UI warnings. New crops auto-degrade gracefully.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374136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465576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2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46557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" y="3447288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 Local-First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739896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analytical database — no network call, no cloud dependency for data queries. Parquet files on disk. Sub-200ms queries on 48M rows. Works in offline/low-bandwidth scenarios.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3374136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90288" y="3465576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3B82F6">
              <a:alpha val="2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346557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19472" y="3447288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Per-State Ensemble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90288" y="3739896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 training per crop × state combination. Karnataka Tomato and Tamil Nadu Tomato are independent models. State-level ensemble captures regional market dynamics independently.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681728"/>
            <a:ext cx="1664208" cy="201168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7472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Sparse-Trend Model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993392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066544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Architecture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712464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785616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A/B/C/D System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31536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04688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Local-First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150608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223760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Per-State Ensemble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8B5CF6">
              <a:alpha val="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8B5CF6">
              <a:alpha val="2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35  ·  FUTURE SCOPE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— AgroPrice AI Next Frontiers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planned phases extending the platform into mobile · weather · live markets · satellite intelligence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86968"/>
            <a:ext cx="45720" cy="1170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978408"/>
            <a:ext cx="676656" cy="182880"/>
          </a:xfrm>
          <a:prstGeom prst="roundRect">
            <a:avLst>
              <a:gd name="adj" fmla="val 60000"/>
            </a:avLst>
          </a:prstGeom>
          <a:solidFill>
            <a:srgbClr val="06B6D4">
              <a:alpha val="25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978408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6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33856" y="978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048" y="1216152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🌦️ Weather Data Fusion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1453896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IMD (India Meteorological Department) API. Correlate rainfall, temperature, and humidity with crop price volatility. Weather-augmented Gemini advisory.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886968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886968"/>
            <a:ext cx="45720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978408"/>
            <a:ext cx="676656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25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978408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7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58384" y="978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08576" y="1216152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Mobile App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08576" y="1453896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PWA with offline DuckDB cache. WhatsApp bot for voice-based price queries. Designed for 2G connectivity — &lt;200KB initial payload.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130552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130552"/>
            <a:ext cx="45720" cy="1170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221992"/>
            <a:ext cx="676656" cy="182880"/>
          </a:xfrm>
          <a:prstGeom prst="roundRect">
            <a:avLst>
              <a:gd name="adj" fmla="val 60000"/>
            </a:avLst>
          </a:prstGeom>
          <a:solidFill>
            <a:srgbClr val="3B82F6">
              <a:alpha val="25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221992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8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133856" y="22219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4048" y="2459736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🏛️ eNAM Live Integration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" y="2697480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National Agriculture Market (eNAM) real-time API for live mandi arrivals and trade volumes — replacing inferred supply/demand signals.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0560" y="2130552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0" y="2130552"/>
            <a:ext cx="45720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08576" y="2221992"/>
            <a:ext cx="676656" cy="182880"/>
          </a:xfrm>
          <a:prstGeom prst="roundRect">
            <a:avLst>
              <a:gd name="adj" fmla="val 60000"/>
            </a:avLst>
          </a:prstGeom>
          <a:solidFill>
            <a:srgbClr val="8B5CF6">
              <a:alpha val="25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8576" y="2221992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9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58384" y="22219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08576" y="2459736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🛰️ Satellite Yield Prediction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08576" y="2697480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NDVI satellite imagery (Sentinel-2) with price models. Predict supply shocks 6–8 weeks ahead by tracking crop health across South Indian districts.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3374136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3374136"/>
            <a:ext cx="45720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3465576"/>
            <a:ext cx="676656" cy="182880"/>
          </a:xfrm>
          <a:prstGeom prst="roundRect">
            <a:avLst>
              <a:gd name="adj" fmla="val 60000"/>
            </a:avLst>
          </a:prstGeom>
          <a:solidFill>
            <a:srgbClr val="F59E0B">
              <a:alpha val="25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465576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33856" y="34655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84048" y="3703320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🔔 Proactive Alert System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4048" y="3941064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framework for price anomaly alerts, forecast reversals, and seasonal entry windows. Subscriptions per crop × state × threshold.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80560" y="3374136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80560" y="3374136"/>
            <a:ext cx="45720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08576" y="3465576"/>
            <a:ext cx="676656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25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08576" y="3465576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11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358384" y="34655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608576" y="3703320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Cooperative Intelligence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08576" y="3941064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platform for Farmer Producer Organisations (FPOs). Shared crop pools, collective bargaining signals, inter-mandi arbitrage identification.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4681728"/>
            <a:ext cx="1664208" cy="201168"/>
          </a:xfrm>
          <a:prstGeom prst="rect">
            <a:avLst/>
          </a:prstGeom>
          <a:solidFill>
            <a:srgbClr val="0D1A2E"/>
          </a:solidFill>
          <a:ln w="1651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47472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6–11 Roadmap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993392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066544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+ IMD API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712464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785616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 · WhatsApp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431536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504688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Live Data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150608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223760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NDVI Yield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36  ·  CONCLUSION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AI — What We Built and Why It Matters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agricultural intelligence · grounded AI · real data · real decisions · real impact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8631936" cy="676656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86968"/>
            <a:ext cx="45720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097280"/>
            <a:ext cx="347472" cy="256032"/>
          </a:xfrm>
          <a:prstGeom prst="roundRect">
            <a:avLst>
              <a:gd name="adj" fmla="val 42857"/>
            </a:avLst>
          </a:prstGeom>
          <a:solidFill>
            <a:srgbClr val="10B981">
              <a:alpha val="28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09728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" y="9601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Closes the intelligence gap.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0" cy="347472"/>
          </a:xfrm>
          <a:prstGeom prst="line">
            <a:avLst/>
          </a:prstGeom>
          <a:noFill/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941832"/>
            <a:ext cx="5449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48.2M AGMARKNET records transformed into actionable price intelligence for South Indian farmers, traders, and agribusinesses — democratising market access.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627632"/>
            <a:ext cx="8631936" cy="676656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627632"/>
            <a:ext cx="45720" cy="6766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1837944"/>
            <a:ext cx="347472" cy="256032"/>
          </a:xfrm>
          <a:prstGeom prst="roundRect">
            <a:avLst>
              <a:gd name="adj" fmla="val 42857"/>
            </a:avLst>
          </a:prstGeom>
          <a:solidFill>
            <a:srgbClr val="06B6D4">
              <a:alpha val="28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83794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" y="170078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 AI prevents harm.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1792224"/>
            <a:ext cx="0" cy="347472"/>
          </a:xfrm>
          <a:prstGeom prst="line">
            <a:avLst/>
          </a:prstGeom>
          <a:noFill/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1682496"/>
            <a:ext cx="5449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 generates every number. Gemini 2.5 Flash narrates insights about real data. Zero hallucination by architectural design, verified end-to-end.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2368296"/>
            <a:ext cx="8631936" cy="676656"/>
          </a:xfrm>
          <a:prstGeom prst="rect">
            <a:avLst/>
          </a:prstGeom>
          <a:solidFill>
            <a:srgbClr val="0D1A2E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368296"/>
            <a:ext cx="45720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578608"/>
            <a:ext cx="347472" cy="256032"/>
          </a:xfrm>
          <a:prstGeom prst="roundRect">
            <a:avLst>
              <a:gd name="adj" fmla="val 42857"/>
            </a:avLst>
          </a:prstGeom>
          <a:solidFill>
            <a:srgbClr val="3B82F6">
              <a:alpha val="2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57860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" y="244144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depth, not gimmick.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532888"/>
            <a:ext cx="0" cy="347472"/>
          </a:xfrm>
          <a:prstGeom prst="line">
            <a:avLst/>
          </a:prstGeom>
          <a:noFill/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2423160"/>
            <a:ext cx="5449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specialist council (Phase 5), regime detection, probability engine, and cross-market influence graph — all deterministic, traceable, and explainable.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108960"/>
            <a:ext cx="8631936" cy="676656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108960"/>
            <a:ext cx="45720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3319272"/>
            <a:ext cx="347472" cy="256032"/>
          </a:xfrm>
          <a:prstGeom prst="roundRect">
            <a:avLst>
              <a:gd name="adj" fmla="val 42857"/>
            </a:avLst>
          </a:prstGeom>
          <a:solidFill>
            <a:srgbClr val="8B5CF6">
              <a:alpha val="28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31927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6384" y="318211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Production-grade, deployable now.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3273552"/>
            <a:ext cx="0" cy="347472"/>
          </a:xfrm>
          <a:prstGeom prst="line">
            <a:avLst/>
          </a:prstGeom>
          <a:noFill/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3163824"/>
            <a:ext cx="5449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:8001 + React+Vite :5173 + DuckDB + Prophet/XGBoost stack. 5-phase iterative build from Jan–Jun 2026. Extensible for FPOs and government agri-portals.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3849624"/>
            <a:ext cx="8631936" cy="676656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3849624"/>
            <a:ext cx="45720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4059936"/>
            <a:ext cx="347472" cy="256032"/>
          </a:xfrm>
          <a:prstGeom prst="roundRect">
            <a:avLst>
              <a:gd name="adj" fmla="val 42857"/>
            </a:avLst>
          </a:prstGeom>
          <a:solidFill>
            <a:srgbClr val="F59E0B">
              <a:alpha val="2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0599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6384" y="392277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Blueprint for responsible AI.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0" y="4014216"/>
            <a:ext cx="0" cy="347472"/>
          </a:xfrm>
          <a:prstGeom prst="line">
            <a:avLst/>
          </a:prstGeom>
          <a:noFill/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28416" y="3904488"/>
            <a:ext cx="5449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deterministic ↔ LLM boundary, domain guardrails, confidence scoring, and a 7-stage auditable pipeline. A reusable framework for any agricultural AI system.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3B82F6">
              <a:alpha val="3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3B82F6">
              <a:alpha val="2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37  ·  CONTRIBUTIONS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&amp; Academic Contributions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architectures · open-source frameworks · domain datasets · reproducible AI design patterns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68680"/>
            <a:ext cx="2011680" cy="201168"/>
          </a:xfrm>
          <a:prstGeom prst="roundRect">
            <a:avLst>
              <a:gd name="adj" fmla="val 54545"/>
            </a:avLst>
          </a:prstGeom>
          <a:solidFill>
            <a:srgbClr val="3B82F6">
              <a:alpha val="2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8686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CONTRIBUTIONS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26864" y="868680"/>
            <a:ext cx="2011680" cy="201168"/>
          </a:xfrm>
          <a:prstGeom prst="roundRect">
            <a:avLst>
              <a:gd name="adj" fmla="val 54545"/>
            </a:avLst>
          </a:prstGeom>
          <a:solidFill>
            <a:srgbClr val="8B5CF6">
              <a:alpha val="2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8686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 CONTRIBUTIONS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56032" y="113385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133856"/>
            <a:ext cx="36576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179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Grounded LLM Architecture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1389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deterministic ↔ LLM boundary preventing hallucination in domain-specific AI applications. Reusable for any structured-data advisory system.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186537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1865376"/>
            <a:ext cx="36576" cy="6766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911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Multi-Agent Council Framework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2121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7-specialist agent council with weighted aggregation, dissent detection, and consensus scoring. Extensible to any multi-signal market system.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259689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596896"/>
            <a:ext cx="36576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642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Sparse-Trend Forecasting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2852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 for irregular agricultural time-series. Tier A/B/C/D degradation pattern for new-crop cold-start scenarios.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6032" y="332841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328416"/>
            <a:ext cx="36576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3741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🏗️ FastAPI + DuckDB + Gemini Stack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35844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blueprint: embedded DuckDB analytics + FastAPI backend + React Vite frontend + SSE streaming + Gemini advisory, fully open-source.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" y="405993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4059936"/>
            <a:ext cx="36576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1056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🌿 South India Crop Corpus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315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48.2M AGMARKNET records (2015–2026) cleaned, indexed in DuckDB Parquet, and enriched with 27-crop registry + 22-signal intelligence framework.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26864" y="113385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26864" y="1133856"/>
            <a:ext cx="36576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179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📄 Responsible AI Design Pattern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1389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guardrail architecture, domain scope enforcement, and confidence transparency for LLM-backed advisory systems in high-stakes domains.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26864" y="186537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26864" y="1865376"/>
            <a:ext cx="36576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911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🔬 Agentic Intelligence Study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2121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study of multi-agent consensus vs single-model recommendations across 27 South Indian crops and 5 states (2015–2026 data).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26864" y="259689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26864" y="2596896"/>
            <a:ext cx="36576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642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🌾 AgriTech AI Framework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54880" y="2852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open-source framework for agricultural AI: data pipeline, forecasting ensemble, grounded LLM layer, and agentic decision intelligence.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26864" y="3328416"/>
            <a:ext cx="4133088" cy="676656"/>
          </a:xfrm>
          <a:prstGeom prst="rect">
            <a:avLst/>
          </a:prstGeom>
          <a:solidFill>
            <a:srgbClr val="0F2040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26864" y="3328416"/>
            <a:ext cx="36576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3741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MCA Research Project — 2nd Semester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54880" y="35844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Master of Computer Applications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R.V. College of Engineering, Bengaluru · June 2026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under Generative AI Elective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425696" y="868680"/>
            <a:ext cx="0" cy="0"/>
          </a:xfrm>
          <a:prstGeom prst="line">
            <a:avLst/>
          </a:prstGeom>
          <a:noFill/>
          <a:ln w="10160">
            <a:solidFill>
              <a:srgbClr val="2A4A7A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25696" y="868680"/>
            <a:ext cx="0" cy="3840480"/>
          </a:xfrm>
          <a:prstGeom prst="line">
            <a:avLst/>
          </a:prstGeom>
          <a:noFill/>
          <a:ln w="10160">
            <a:solidFill>
              <a:srgbClr val="2A4A7A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E2E8F0">
              <a:alpha val="3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E2E8F0">
              <a:alpha val="20000"/>
            </a:srgbClr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38  ·  REFERENCES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Sources, Research &amp; Technology Stack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· models · frameworks · and libraries that power AgroPrice AI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8631936" cy="512064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" y="103327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3B82F6">
              <a:alpha val="25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03327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105156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3B82F6">
              <a:alpha val="1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0515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481328" y="92354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(Agricultural Marketing Information Network). Directorate of Marketing &amp; Inspection, Government of India. Daily mandi prices 2015–2026. data.gov.in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" y="1435608"/>
            <a:ext cx="8631936" cy="512064"/>
          </a:xfrm>
          <a:prstGeom prst="rect">
            <a:avLst/>
          </a:prstGeom>
          <a:solidFill>
            <a:srgbClr val="07101F"/>
          </a:solidFill>
          <a:ln w="1016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" y="158191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15819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8368" y="160020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18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600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481328" y="147218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Taylor, S.J. &amp; Letham, B. (2018). "Forecasting at Scale." The American Statistician, 72(1), 37–45. doi:10.1080/00031305.2017.1380080 — Facebook Prophet.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1984248"/>
            <a:ext cx="8631936" cy="512064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" y="213055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213055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58368" y="214884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18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148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Forecasting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481328" y="202082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 &amp; Guestrin, C. (2016). "XGBoost: A Scalable Tree Boosting System." Proc. 22nd ACM SIGKDD, pp. 785–794. doi:10.1145/2939672.2939785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6032" y="2532888"/>
            <a:ext cx="8631936" cy="512064"/>
          </a:xfrm>
          <a:prstGeom prst="rect">
            <a:avLst/>
          </a:prstGeom>
          <a:solidFill>
            <a:srgbClr val="07101F"/>
          </a:solidFill>
          <a:ln w="1016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" y="267919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267919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8368" y="269748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8B5CF6">
              <a:alpha val="18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974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/ AI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481328" y="256946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(2024). Gemini: A Family of Highly Capable Multimodal Models. Technical Report. Accessed via Google AI Studio — model: gemini-2.5-flash.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6032" y="3081528"/>
            <a:ext cx="8631936" cy="512064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" y="322783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322783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58368" y="324612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06B6D4">
              <a:alpha val="18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46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481328" y="311810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Raasveldt, M. &amp; Mühleisen, H. (2019). "DuckDB: An Embeddable Analytical Database." Proc. SIGMOD 2019. doi:10.1145/3299869.3320212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" y="3630168"/>
            <a:ext cx="8631936" cy="512064"/>
          </a:xfrm>
          <a:prstGeom prst="rect">
            <a:avLst/>
          </a:prstGeom>
          <a:solidFill>
            <a:srgbClr val="07101F"/>
          </a:solidFill>
          <a:ln w="1016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9184" y="377647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" y="377647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" y="379476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F59E0B">
              <a:alpha val="1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794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481328" y="366674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Ramírez, S. (2018–2026). FastAPI — High Performance Python Web Framework. fastapi.tiangolo.com. Used with uvicorn ASGI server (v0.20+).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56032" y="4178808"/>
            <a:ext cx="8631936" cy="512064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9184" y="432511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3B82F6">
              <a:alpha val="25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43251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58368" y="434340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3B82F6">
              <a:alpha val="1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4343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481328" y="421538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 Source (2013–2026). React — A JavaScript Library for Building User Interfaces. react.dev. Vite build system by Evan You (vitejs.dev).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56032" y="4727448"/>
            <a:ext cx="8631936" cy="512064"/>
          </a:xfrm>
          <a:prstGeom prst="rect">
            <a:avLst/>
          </a:prstGeom>
          <a:solidFill>
            <a:srgbClr val="07101F"/>
          </a:solidFill>
          <a:ln w="10160">
            <a:solidFill>
              <a:srgbClr val="94A3B8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9184" y="487375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94A3B8">
              <a:alpha val="2500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487375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58368" y="489204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94A3B8">
              <a:alpha val="1800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Styling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481328" y="476402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(v3.4). A utility-first CSS framework. tailwindcss.com. TailwindCSS UI + custom glassmorphism + Bloomberg-style dark theme.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"/>
            <a:ext cx="5486400" cy="36576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731520"/>
            <a:ext cx="5943600" cy="4114800"/>
          </a:xfrm>
          <a:prstGeom prst="ellipse">
            <a:avLst/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2286000"/>
            <a:ext cx="4572000" cy="2743200"/>
          </a:xfrm>
          <a:prstGeom prst="ellipse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47088"/>
            <a:ext cx="8412480" cy="0"/>
          </a:xfrm>
          <a:prstGeom prst="line">
            <a:avLst/>
          </a:prstGeom>
          <a:noFill/>
          <a:ln w="762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493008"/>
            <a:ext cx="8412480" cy="0"/>
          </a:xfrm>
          <a:prstGeom prst="line">
            <a:avLst/>
          </a:prstGeom>
          <a:noFill/>
          <a:ln w="762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92608"/>
            <a:ext cx="2743200" cy="237744"/>
          </a:xfrm>
          <a:prstGeom prst="roundRect">
            <a:avLst>
              <a:gd name="adj" fmla="val 46154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AI  ·  MCA PROJECT  ·  2026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621792"/>
            <a:ext cx="8595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South India's Farmers with Grounded Artificial Intelligence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2560320" cy="603504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377440"/>
            <a:ext cx="36576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2414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 Records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" y="26883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2015–2026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319272" y="2377440"/>
            <a:ext cx="2560320" cy="603504"/>
          </a:xfrm>
          <a:prstGeom prst="rect">
            <a:avLst/>
          </a:prstGeom>
          <a:solidFill>
            <a:srgbClr val="0D1A2E"/>
          </a:solidFill>
          <a:ln w="1651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9272" y="2377440"/>
            <a:ext cx="36576" cy="6035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2414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2.5 Flash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47288" y="26883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Zero Hallucination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35624" y="2377440"/>
            <a:ext cx="2560320" cy="603504"/>
          </a:xfrm>
          <a:prstGeom prst="rect">
            <a:avLst/>
          </a:prstGeom>
          <a:solidFill>
            <a:srgbClr val="0D1A2E"/>
          </a:solidFill>
          <a:ln w="1651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2377440"/>
            <a:ext cx="36576" cy="6035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414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 Complete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6883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Decision Council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4320" y="31089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74320" y="351129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sabhilash.mca25@rvce.edu.in   ·   R.V. College of Engineering, Bengaluru   ·   MCA 2nd Semester · GEN AI Elective Project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803904"/>
            <a:ext cx="8412480" cy="0"/>
          </a:xfrm>
          <a:prstGeom prst="line">
            <a:avLst/>
          </a:prstGeom>
          <a:noFill/>
          <a:ln w="1016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7705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3.13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993392" y="387705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+ Prophet + XGBoost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12464" y="387705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TailwindCSS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431536" y="387705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150608" y="387705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· Gov. of India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39/39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49440" y="48280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AI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2113</Words>
  <Application>Microsoft Office PowerPoint</Application>
  <PresentationFormat>On-screen Show (16:9)</PresentationFormat>
  <Paragraphs>317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AgroPrice AI — Analysis &amp; Conclusion (Slides 30–39)</dc:title>
  <dc:subject>PptxGenJS Presentation</dc:subject>
  <dc:creator>AgroPrice AI · MCA Research Project</dc:creator>
  <cp:lastModifiedBy>Abhilash S</cp:lastModifiedBy>
  <cp:revision>2</cp:revision>
  <dcterms:created xsi:type="dcterms:W3CDTF">2026-06-15T22:24:24Z</dcterms:created>
  <dcterms:modified xsi:type="dcterms:W3CDTF">2026-06-15T22:29:55Z</dcterms:modified>
</cp:coreProperties>
</file>