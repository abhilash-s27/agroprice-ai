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6400800" cy="3657600"/>
          </a:xfrm>
          <a:prstGeom prst="ellipse">
            <a:avLst/>
          </a:prstGeom>
          <a:solidFill>
            <a:srgbClr val="3B82F6">
              <a:alpha val="3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"/>
            <a:ext cx="2743200" cy="210312"/>
          </a:xfrm>
          <a:prstGeom prst="roundRect">
            <a:avLst>
              <a:gd name="adj" fmla="val 52174"/>
            </a:avLst>
          </a:prstGeom>
          <a:solidFill>
            <a:srgbClr val="3B82F6">
              <a:alpha val="20000"/>
            </a:srgbClr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"/>
            <a:ext cx="2743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20  ·  LIVE DASHBOARD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400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Intelligence Dashboard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agricultural price analytics · AGMARKNET 2015–2026 · 5 South Indian states · 27 crops tracked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" y="804672"/>
            <a:ext cx="8668512" cy="3822192"/>
          </a:xfrm>
          <a:prstGeom prst="rect">
            <a:avLst/>
          </a:prstGeom>
          <a:ln w="12700">
            <a:solidFill>
              <a:srgbClr val="1E3A5F">
                <a:alpha val="45000"/>
              </a:srgbClr>
            </a:solidFill>
            <a:prstDash val="solid"/>
          </a:ln>
          <a:effectLst>
            <a:outerShdw sx="100000" sy="100000" kx="0" ky="0" algn="bl" rotWithShape="0" blurRad="330200" dist="50800" dir="16200000">
              <a:srgbClr val="3B82F6">
                <a:alpha val="22000"/>
              </a:srgbClr>
            </a:outerShdw>
          </a:effectLst>
        </p:spPr>
      </p:sp>
      <p:pic>
        <p:nvPicPr>
          <p:cNvPr id="10" name="Image 0" descr="D:/mca/2nd semester/GEN AI/EL Project/AgroPrice-AI/presentation/screenshots/cropped/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41248"/>
            <a:ext cx="8595360" cy="3749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217920" y="950976"/>
            <a:ext cx="2542032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17920" y="950976"/>
            <a:ext cx="36576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0" y="97840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TOTAL RECORDS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309360" y="115214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48,229,507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7920" y="1499616"/>
            <a:ext cx="2542032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7920" y="1499616"/>
            <a:ext cx="36576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09360" y="152704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🌾 CROPS TRACKED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309360" y="170078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380+ varieties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17920" y="2048256"/>
            <a:ext cx="2542032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17920" y="2048256"/>
            <a:ext cx="36576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09360" y="207568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🗺️ STATES COVERED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309360" y="224942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TN · KA · AP · TS · KL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217920" y="2596896"/>
            <a:ext cx="2542032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217920" y="2596896"/>
            <a:ext cx="36576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09360" y="262432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MARKET STRESS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309360" y="279806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100/100 — Extreme Alert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74320" y="4617720"/>
            <a:ext cx="2093976" cy="210312"/>
          </a:xfrm>
          <a:prstGeom prst="rect">
            <a:avLst/>
          </a:prstGeom>
          <a:solidFill>
            <a:srgbClr val="0D1A2E"/>
          </a:solidFill>
          <a:ln w="1651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34747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48.2M AGMARKNET Records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242316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249631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Latest: 2026-04-21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57200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64515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Brief — Live Ticker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72084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79399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Priced: Banana ₹4,074/qtl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6400800" cy="3657600"/>
          </a:xfrm>
          <a:prstGeom prst="ellipse">
            <a:avLst/>
          </a:prstGeom>
          <a:solidFill>
            <a:srgbClr val="06B6D4">
              <a:alpha val="3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"/>
            <a:ext cx="2743200" cy="210312"/>
          </a:xfrm>
          <a:prstGeom prst="roundRect">
            <a:avLst>
              <a:gd name="adj" fmla="val 52174"/>
            </a:avLst>
          </a:prstGeom>
          <a:solidFill>
            <a:srgbClr val="06B6D4">
              <a:alpha val="20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"/>
            <a:ext cx="2743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21  ·  MARKET MAP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400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Geographic Price Intelligence — South India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5-state spatial analytics · State-level price heatmap · Regional spread analysis · Crop × State × Metric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" y="804672"/>
            <a:ext cx="8668512" cy="3822192"/>
          </a:xfrm>
          <a:prstGeom prst="rect">
            <a:avLst/>
          </a:prstGeom>
          <a:ln w="12700">
            <a:solidFill>
              <a:srgbClr val="1E3A5F">
                <a:alpha val="45000"/>
              </a:srgbClr>
            </a:solidFill>
            <a:prstDash val="solid"/>
          </a:ln>
          <a:effectLst>
            <a:outerShdw sx="100000" sy="100000" kx="0" ky="0" algn="bl" rotWithShape="0" blurRad="381000" dist="50800" dir="16200000">
              <a:srgbClr val="06B6D4">
                <a:alpha val="25000"/>
              </a:srgbClr>
            </a:outerShdw>
          </a:effectLst>
        </p:spPr>
      </p:sp>
      <p:pic>
        <p:nvPicPr>
          <p:cNvPr id="10" name="Image 0" descr="D:/mca/2nd semester/GEN AI/EL Project/AgroPrice-AI/presentation/screenshots/cropped/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41248"/>
            <a:ext cx="8595360" cy="3749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81344" y="95097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81344" y="950976"/>
            <a:ext cx="36576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72784" y="97840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📍 HIGHEST PRICE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272784" y="115214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Kerala ₹3,184/qtl (+22%)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81344" y="149961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81344" y="1499616"/>
            <a:ext cx="36576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72784" y="152704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📉 LOWEST PRICE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272784" y="170078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Telangana ₹1,070/qtl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81344" y="204825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81344" y="2048256"/>
            <a:ext cx="36576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72784" y="207568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↑ STRONGEST TREND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272784" y="224942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Telangana +77.7% uptrend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181344" y="259689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181344" y="2596896"/>
            <a:ext cx="36576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72784" y="262432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📐 REGIONAL SPREAD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272784" y="279806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198% Kerala vs Telangana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74320" y="4617720"/>
            <a:ext cx="2093976" cy="210312"/>
          </a:xfrm>
          <a:prstGeom prst="rect">
            <a:avLst/>
          </a:prstGeom>
          <a:solidFill>
            <a:srgbClr val="0D1A2E"/>
          </a:solidFill>
          <a:ln w="1651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34747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Tomato · Avg Price (30D)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242316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249631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 South Indian States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57200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64515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AGMARKNET Spatial Intel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72084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79399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Kerala leads at ₹3,184/qtl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6400800" cy="3657600"/>
          </a:xfrm>
          <a:prstGeom prst="ellipse">
            <a:avLst/>
          </a:prstGeom>
          <a:solidFill>
            <a:srgbClr val="10B981">
              <a:alpha val="3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"/>
            <a:ext cx="2743200" cy="210312"/>
          </a:xfrm>
          <a:prstGeom prst="roundRect">
            <a:avLst>
              <a:gd name="adj" fmla="val 52174"/>
            </a:avLst>
          </a:prstGeom>
          <a:solidFill>
            <a:srgbClr val="10B981">
              <a:alpha val="20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"/>
            <a:ext cx="2743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22  ·  FORECAST ENGINE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400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AI-Powered Price Forecasting Engine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+ XGBoost + Sparse-Trend models · 7/30/90-day horizons · Tier A/B/C/D crop registry · 27 crops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" y="804672"/>
            <a:ext cx="8668512" cy="3822192"/>
          </a:xfrm>
          <a:prstGeom prst="rect">
            <a:avLst/>
          </a:prstGeom>
          <a:ln w="12700">
            <a:solidFill>
              <a:srgbClr val="1E3A5F">
                <a:alpha val="45000"/>
              </a:srgbClr>
            </a:solidFill>
            <a:prstDash val="solid"/>
          </a:ln>
          <a:effectLst>
            <a:outerShdw sx="100000" sy="100000" kx="0" ky="0" algn="bl" rotWithShape="0" blurRad="381000" dist="50800" dir="16200000">
              <a:srgbClr val="10B981">
                <a:alpha val="25000"/>
              </a:srgbClr>
            </a:outerShdw>
          </a:effectLst>
        </p:spPr>
      </p:sp>
      <p:pic>
        <p:nvPicPr>
          <p:cNvPr id="10" name="Image 0" descr="D:/mca/2nd semester/GEN AI/EL Project/AgroPrice-AI/presentation/screenshots/cropped/foreca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41248"/>
            <a:ext cx="8595360" cy="3749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81344" y="95097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81344" y="950976"/>
            <a:ext cx="36576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72784" y="97840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🧠 AI CONFIDENCE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272784" y="115214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78/100 — Mean across 27 crops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81344" y="149961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81344" y="1499616"/>
            <a:ext cx="36576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72784" y="152704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⚖️ MARKET STABILITY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272784" y="170078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48/100 — Inverse of mean CV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81344" y="204825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81344" y="2048256"/>
            <a:ext cx="36576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72784" y="207568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OPPORTUNITY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272784" y="224942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74/100 — 10 rising markets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181344" y="259689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181344" y="2596896"/>
            <a:ext cx="36576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72784" y="262432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STRESS METER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272784" y="279806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100/100 — 68 anomaly events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74320" y="4617720"/>
            <a:ext cx="2093976" cy="210312"/>
          </a:xfrm>
          <a:prstGeom prst="rect">
            <a:avLst/>
          </a:prstGeom>
          <a:solidFill>
            <a:srgbClr val="0D1A2E"/>
          </a:solidFill>
          <a:ln w="1651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34747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Prophet · 4,050 Training Days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242316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249631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 — 90-Day Horizon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57200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64515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India AI Market Pulse · LIVE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72084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79399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Leaders — Beans +50.2%/7d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6400800" cy="3657600"/>
          </a:xfrm>
          <a:prstGeom prst="ellipse">
            <a:avLst/>
          </a:prstGeom>
          <a:solidFill>
            <a:srgbClr val="8B5CF6">
              <a:alpha val="3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"/>
            <a:ext cx="2743200" cy="210312"/>
          </a:xfrm>
          <a:prstGeom prst="roundRect">
            <a:avLst>
              <a:gd name="adj" fmla="val 52174"/>
            </a:avLst>
          </a:prstGeom>
          <a:solidFill>
            <a:srgbClr val="8B5CF6">
              <a:alpha val="20000"/>
            </a:srgbClr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"/>
            <a:ext cx="2743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23  ·  AI VISUAL REASONING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400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23/29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Visual Reasoning — Live Market Signal Extraction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4-dimension signal analysis · Generated from live DuckDB metrics · Anomaly detection · Volatility · Coverage · Seasonality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" y="804672"/>
            <a:ext cx="8668512" cy="3822192"/>
          </a:xfrm>
          <a:prstGeom prst="rect">
            <a:avLst/>
          </a:prstGeom>
          <a:ln w="12700">
            <a:solidFill>
              <a:srgbClr val="1E3A5F">
                <a:alpha val="45000"/>
              </a:srgbClr>
            </a:solidFill>
            <a:prstDash val="solid"/>
          </a:ln>
          <a:effectLst>
            <a:outerShdw sx="100000" sy="100000" kx="0" ky="0" algn="bl" rotWithShape="0" blurRad="330200" dist="50800" dir="16200000">
              <a:srgbClr val="8B5CF6">
                <a:alpha val="22000"/>
              </a:srgbClr>
            </a:outerShdw>
          </a:effectLst>
        </p:spPr>
      </p:sp>
      <p:pic>
        <p:nvPicPr>
          <p:cNvPr id="10" name="Image 0" descr="D:/mca/2nd semester/GEN AI/EL Project/AgroPrice-AI/presentation/screenshots/cropped/forecast_signal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41248"/>
            <a:ext cx="8595360" cy="3749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81344" y="95097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81344" y="950976"/>
            <a:ext cx="36576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72784" y="97840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HIGH VOLATILITY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272784" y="115214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Detected · 83% confidence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81344" y="149961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81344" y="1499616"/>
            <a:ext cx="36576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72784" y="152704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📡 MARKET COVERAGE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272784" y="170078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Strong · 92% continuity score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81344" y="204825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81344" y="2048256"/>
            <a:ext cx="36576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72784" y="207568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🌿 SEASONAL RECOVERY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272784" y="224942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Underway · 75% signal strength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181344" y="259689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181344" y="2596896"/>
            <a:ext cx="36576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72784" y="262432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🔄 SEASONAL CYCLE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272784" y="279806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Pronounced · 102% swing · 85%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74320" y="4617720"/>
            <a:ext cx="2093976" cy="210312"/>
          </a:xfrm>
          <a:prstGeom prst="rect">
            <a:avLst/>
          </a:prstGeom>
          <a:solidFill>
            <a:srgbClr val="0D1A2E"/>
          </a:solidFill>
          <a:ln w="1651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34747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 signals — generated from live metrics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242316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249631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71% CV · Momentum +29.4%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57200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64515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Index 79/100 · Anomaly Count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72084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79399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· Karnataka · AI Reasoning Module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6400800" cy="3657600"/>
          </a:xfrm>
          <a:prstGeom prst="ellipse">
            <a:avLst/>
          </a:prstGeom>
          <a:solidFill>
            <a:srgbClr val="EF4444">
              <a:alpha val="3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"/>
            <a:ext cx="2743200" cy="210312"/>
          </a:xfrm>
          <a:prstGeom prst="roundRect">
            <a:avLst>
              <a:gd name="adj" fmla="val 52174"/>
            </a:avLst>
          </a:prstGeom>
          <a:solidFill>
            <a:srgbClr val="EF4444">
              <a:alpha val="20000"/>
            </a:srgbClr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"/>
            <a:ext cx="2743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24  ·  AUTONOMOUS AI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400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24/29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Autonomous Multi-Agent Market Monitor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4B · Regime detection · Escalation engine · Priority scoring · Bloomberg-style executive synthesis · Phase 5 Council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" y="804672"/>
            <a:ext cx="8668512" cy="3822192"/>
          </a:xfrm>
          <a:prstGeom prst="rect">
            <a:avLst/>
          </a:prstGeom>
          <a:ln w="12700">
            <a:solidFill>
              <a:srgbClr val="1E3A5F">
                <a:alpha val="45000"/>
              </a:srgbClr>
            </a:solidFill>
            <a:prstDash val="solid"/>
          </a:ln>
          <a:effectLst>
            <a:outerShdw sx="100000" sy="100000" kx="0" ky="0" algn="bl" rotWithShape="0" blurRad="330200" dist="50800" dir="16200000">
              <a:srgbClr val="EF4444">
                <a:alpha val="22000"/>
              </a:srgbClr>
            </a:outerShdw>
          </a:effectLst>
        </p:spPr>
      </p:sp>
      <p:pic>
        <p:nvPicPr>
          <p:cNvPr id="10" name="Image 0" descr="D:/mca/2nd semester/GEN AI/EL Project/AgroPrice-AI/presentation/screenshots/cropped/advisor_monit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41248"/>
            <a:ext cx="8595360" cy="3749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81344" y="95097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81344" y="950976"/>
            <a:ext cx="36576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72784" y="97840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🚨 MARKET REGIME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272784" y="115214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CRISIS — 5 crops affected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81344" y="149961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81344" y="1499616"/>
            <a:ext cx="36576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72784" y="152704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ESCALATIONS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272784" y="170078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 signals require attention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81344" y="204825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81344" y="2048256"/>
            <a:ext cx="36576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72784" y="207568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SHOCK PROBABILITY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272784" y="224942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88% in next 30 days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181344" y="259689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181344" y="2596896"/>
            <a:ext cx="36576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72784" y="262432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AI AGENTS ACTIVE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272784" y="279806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4B+5 — 7-agent council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74320" y="4617720"/>
            <a:ext cx="2093976" cy="210312"/>
          </a:xfrm>
          <a:prstGeom prst="rect">
            <a:avLst/>
          </a:prstGeom>
          <a:solidFill>
            <a:srgbClr val="0D1A2E"/>
          </a:solidFill>
          <a:ln w="16510">
            <a:solidFill>
              <a:srgbClr val="EF444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34747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CRITICAL: Tomato (Karnataka) — Panic / Volatility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242316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249631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Onion (Tamil Nadu) — Panic / Volatility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57200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64515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Synthesis — High Risk Consensus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72084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79399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Intelligence Phase 5 — Bloomberg Style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6400800" cy="3657600"/>
          </a:xfrm>
          <a:prstGeom prst="ellipse">
            <a:avLst/>
          </a:prstGeom>
          <a:solidFill>
            <a:srgbClr val="F59E0B">
              <a:alpha val="3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"/>
            <a:ext cx="2743200" cy="210312"/>
          </a:xfrm>
          <a:prstGeom prst="roundRect">
            <a:avLst>
              <a:gd name="adj" fmla="val 52174"/>
            </a:avLst>
          </a:prstGeom>
          <a:solidFill>
            <a:srgbClr val="F59E0B">
              <a:alpha val="20000"/>
            </a:srgbClr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"/>
            <a:ext cx="2743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25  ·  DATA STORYTELLING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400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25/29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AI-Powered Data Storytelling — Market Story Mode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analyst briefing mode · Seasonal pattern narration · Cross-state snapshot · Historical behaviour explanation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" y="804672"/>
            <a:ext cx="8668512" cy="3822192"/>
          </a:xfrm>
          <a:prstGeom prst="rect">
            <a:avLst/>
          </a:prstGeom>
          <a:ln w="12700">
            <a:solidFill>
              <a:srgbClr val="1E3A5F">
                <a:alpha val="45000"/>
              </a:srgbClr>
            </a:solidFill>
            <a:prstDash val="solid"/>
          </a:ln>
          <a:effectLst>
            <a:outerShdw sx="100000" sy="100000" kx="0" ky="0" algn="bl" rotWithShape="0" blurRad="330200" dist="50800" dir="16200000">
              <a:srgbClr val="F59E0B">
                <a:alpha val="22000"/>
              </a:srgbClr>
            </a:outerShdw>
          </a:effectLst>
        </p:spPr>
      </p:sp>
      <p:pic>
        <p:nvPicPr>
          <p:cNvPr id="10" name="Image 0" descr="D:/mca/2nd semester/GEN AI/EL Project/AgroPrice-AI/presentation/screenshots/cropped/forecast_ch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41248"/>
            <a:ext cx="8595360" cy="3749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81344" y="95097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81344" y="950976"/>
            <a:ext cx="36576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72784" y="97840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📖 STORY MODE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272784" y="115214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4-part AI analyst briefing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81344" y="149961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81344" y="1499616"/>
            <a:ext cx="36576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72784" y="152704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📅 SEASONAL PATTERN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272784" y="170078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Trough Season · -32.6% vs avg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81344" y="204825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81344" y="2048256"/>
            <a:ext cx="36576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72784" y="207568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🗺️ 5-STATE SNAPSHOT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272784" y="224942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₹1,070 – ₹3,184 range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181344" y="259689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181344" y="2596896"/>
            <a:ext cx="36576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72784" y="262432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AI NARRATIVE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272784" y="279806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Auto-generated from real data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74320" y="4617720"/>
            <a:ext cx="2093976" cy="210312"/>
          </a:xfrm>
          <a:prstGeom prst="rect">
            <a:avLst/>
          </a:prstGeom>
          <a:solidFill>
            <a:srgbClr val="0D1A2E"/>
          </a:solidFill>
          <a:ln w="1651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34747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Story Mode · Tomato · Karnataka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242316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249631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PAST: How this market behaved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57200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64515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Months Jul/Jun/Nov (+60.1%)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72084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79399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Trough Months Mar/Apr/Feb (-41.5%)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6400800" cy="3657600"/>
          </a:xfrm>
          <a:prstGeom prst="ellipse">
            <a:avLst/>
          </a:prstGeom>
          <a:solidFill>
            <a:srgbClr val="10B981">
              <a:alpha val="3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"/>
            <a:ext cx="2743200" cy="210312"/>
          </a:xfrm>
          <a:prstGeom prst="roundRect">
            <a:avLst>
              <a:gd name="adj" fmla="val 52174"/>
            </a:avLst>
          </a:prstGeom>
          <a:solidFill>
            <a:srgbClr val="10B981">
              <a:alpha val="20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"/>
            <a:ext cx="2743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26  ·  AI ADVISOR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400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26/29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Grounded Conversational AI Advisor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· Grounded on AGMARKNET data · 4 analyst personas · Session memory · Voice input/output · SSE streaming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" y="804672"/>
            <a:ext cx="8668512" cy="3822192"/>
          </a:xfrm>
          <a:prstGeom prst="rect">
            <a:avLst/>
          </a:prstGeom>
          <a:ln w="12700">
            <a:solidFill>
              <a:srgbClr val="1E3A5F">
                <a:alpha val="45000"/>
              </a:srgbClr>
            </a:solidFill>
            <a:prstDash val="solid"/>
          </a:ln>
          <a:effectLst>
            <a:outerShdw sx="100000" sy="100000" kx="0" ky="0" algn="bl" rotWithShape="0" blurRad="381000" dist="50800" dir="16200000">
              <a:srgbClr val="10B981">
                <a:alpha val="25000"/>
              </a:srgbClr>
            </a:outerShdw>
          </a:effectLst>
        </p:spPr>
      </p:sp>
      <p:pic>
        <p:nvPicPr>
          <p:cNvPr id="10" name="Image 0" descr="D:/mca/2nd semester/GEN AI/EL Project/AgroPrice-AI/presentation/screenshots/cropped/advisor_chat_zo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41248"/>
            <a:ext cx="8595360" cy="3749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81344" y="95097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81344" y="950976"/>
            <a:ext cx="36576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72784" y="97840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✦ GEMINI 2.5 FLASH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272784" y="115214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Grounded · Gemini-powered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81344" y="149961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81344" y="1499616"/>
            <a:ext cx="36576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72784" y="152704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👤 VIEW MODES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272784" y="170078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Farmer · Trader · Wholesale · Analyst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81344" y="204825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81344" y="2048256"/>
            <a:ext cx="36576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72784" y="207568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🧠 SESSION MEMORY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272784" y="224942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Crop/state inheritance · 2h TTL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181344" y="259689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181344" y="2596896"/>
            <a:ext cx="36576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72784" y="262432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🎙️ VOICE ENABLED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272784" y="279806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STT input + TTS output (en-IN)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74320" y="4617720"/>
            <a:ext cx="2093976" cy="210312"/>
          </a:xfrm>
          <a:prstGeom prst="rect">
            <a:avLst/>
          </a:prstGeom>
          <a:solidFill>
            <a:srgbClr val="0D1A2E"/>
          </a:solidFill>
          <a:ln w="1651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34747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Zone 3 · LIVE AI WORKSPACE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242316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249631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Alerts: 10 events · Last 90 days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57200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64515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Rail — Tomato +29.4% · Alert Active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72084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79399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Domain-locked to agriculture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6400800" cy="3657600"/>
          </a:xfrm>
          <a:prstGeom prst="ellipse">
            <a:avLst/>
          </a:prstGeom>
          <a:solidFill>
            <a:srgbClr val="06B6D4">
              <a:alpha val="3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"/>
            <a:ext cx="2743200" cy="210312"/>
          </a:xfrm>
          <a:prstGeom prst="roundRect">
            <a:avLst>
              <a:gd name="adj" fmla="val 52174"/>
            </a:avLst>
          </a:prstGeom>
          <a:solidFill>
            <a:srgbClr val="06B6D4">
              <a:alpha val="20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"/>
            <a:ext cx="2743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27  ·  REPORTS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400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27/29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AI-Generated Intelligence Reports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intelligence · PDF + Excel export · AI Report Intelligence Studio · Farmer · Trader · Analyst modes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" y="804672"/>
            <a:ext cx="8668512" cy="3822192"/>
          </a:xfrm>
          <a:prstGeom prst="rect">
            <a:avLst/>
          </a:prstGeom>
          <a:ln w="12700">
            <a:solidFill>
              <a:srgbClr val="1E3A5F">
                <a:alpha val="45000"/>
              </a:srgbClr>
            </a:solidFill>
            <a:prstDash val="solid"/>
          </a:ln>
          <a:effectLst>
            <a:outerShdw sx="100000" sy="100000" kx="0" ky="0" algn="bl" rotWithShape="0" blurRad="381000" dist="50800" dir="16200000">
              <a:srgbClr val="06B6D4">
                <a:alpha val="25000"/>
              </a:srgbClr>
            </a:outerShdw>
          </a:effectLst>
        </p:spPr>
      </p:sp>
      <p:pic>
        <p:nvPicPr>
          <p:cNvPr id="10" name="Image 0" descr="D:/mca/2nd semester/GEN AI/EL Project/AgroPrice-AI/presentation/screenshots/cropped/repor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41248"/>
            <a:ext cx="8595360" cy="3749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81344" y="95097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81344" y="950976"/>
            <a:ext cx="36576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72784" y="97840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DATASET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272784" y="115214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48.2M AGMARKNET records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81344" y="149961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81344" y="1499616"/>
            <a:ext cx="36576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72784" y="152704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🌾 COVERAGE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272784" y="170078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 crops · 5 states · 11 years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81344" y="204825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81344" y="2048256"/>
            <a:ext cx="36576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72784" y="207568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📁 EXPORT FORMATS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272784" y="224942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PDF (ReportLab) + Excel (openpyxl)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181344" y="259689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181344" y="2596896"/>
            <a:ext cx="36576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72784" y="262432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REPORT TEMPLATES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272784" y="279806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Weekly · Seasonal · Coverage · Forecast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74320" y="4617720"/>
            <a:ext cx="2093976" cy="210312"/>
          </a:xfrm>
          <a:prstGeom prst="rect">
            <a:avLst/>
          </a:prstGeom>
          <a:solidFill>
            <a:srgbClr val="0D1A2E"/>
          </a:solidFill>
          <a:ln w="1651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34747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Report Intelligence Studio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242316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249631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Reliability Assessed — All 27 Crops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57200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64515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V2.7 · AGROPRICE AI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72084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79399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Forecast Models — Prophet · 30/60/90-day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6400800" cy="3657600"/>
          </a:xfrm>
          <a:prstGeom prst="ellipse">
            <a:avLst/>
          </a:prstGeom>
          <a:solidFill>
            <a:srgbClr val="8B5CF6">
              <a:alpha val="3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"/>
            <a:ext cx="2743200" cy="210312"/>
          </a:xfrm>
          <a:prstGeom prst="roundRect">
            <a:avLst>
              <a:gd name="adj" fmla="val 52174"/>
            </a:avLst>
          </a:prstGeom>
          <a:solidFill>
            <a:srgbClr val="8B5CF6">
              <a:alpha val="20000"/>
            </a:srgbClr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"/>
            <a:ext cx="2743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28  ·  EXPLAINABLE AI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400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28/29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Explainable AI — Auditable Decision Pipeline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reached this forecast · 7-stage transparent pipeline · Every decision traceable from raw data to final output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" y="804672"/>
            <a:ext cx="8668512" cy="3822192"/>
          </a:xfrm>
          <a:prstGeom prst="rect">
            <a:avLst/>
          </a:prstGeom>
          <a:ln w="12700">
            <a:solidFill>
              <a:srgbClr val="1E3A5F">
                <a:alpha val="45000"/>
              </a:srgbClr>
            </a:solidFill>
            <a:prstDash val="solid"/>
          </a:ln>
          <a:effectLst>
            <a:outerShdw sx="100000" sy="100000" kx="0" ky="0" algn="bl" rotWithShape="0" blurRad="330200" dist="50800" dir="16200000">
              <a:srgbClr val="8B5CF6">
                <a:alpha val="22000"/>
              </a:srgbClr>
            </a:outerShdw>
          </a:effectLst>
        </p:spPr>
      </p:sp>
      <p:pic>
        <p:nvPicPr>
          <p:cNvPr id="10" name="Image 0" descr="D:/mca/2nd semester/GEN AI/EL Project/AgroPrice-AI/presentation/screenshots/cropped/forecast_pip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41248"/>
            <a:ext cx="8595360" cy="3749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81344" y="95097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81344" y="950976"/>
            <a:ext cx="36576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72784" y="97840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1️⃣ DATA INGESTION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272784" y="115214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48.2M AGMARKNET records scanned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81344" y="149961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81344" y="1499616"/>
            <a:ext cx="36576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72784" y="152704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FORECAST ENGINE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272784" y="170078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Prophet · 30-day projection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81344" y="204825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81344" y="2048256"/>
            <a:ext cx="36576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72784" y="207568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CONFIDENCE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272784" y="224942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weighted factors · 79/100 Good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181344" y="259689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181344" y="2596896"/>
            <a:ext cx="36576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72784" y="262432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FINAL FORECAST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272784" y="279806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Rendered with full diagnostics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74320" y="4617720"/>
            <a:ext cx="2093976" cy="210312"/>
          </a:xfrm>
          <a:prstGeom prst="rect">
            <a:avLst/>
          </a:prstGeom>
          <a:solidFill>
            <a:srgbClr val="0D1A2E"/>
          </a:solidFill>
          <a:ln w="1651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34747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→ Cleaning → Tier Classification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242316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249631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Engine → Confidence Engine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57200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64515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Engine → AI Narrator → Final Forecast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72084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79399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end-to-end · No black boxes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3657600" cy="2743200"/>
          </a:xfrm>
          <a:prstGeom prst="ellipse">
            <a:avLst/>
          </a:prstGeom>
          <a:solidFill>
            <a:srgbClr val="10B981">
              <a:alpha val="4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1828800"/>
            <a:ext cx="3657600" cy="2743200"/>
          </a:xfrm>
          <a:prstGeom prst="ellipse">
            <a:avLst/>
          </a:prstGeom>
          <a:solidFill>
            <a:srgbClr val="3B82F6">
              <a:alpha val="4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64008"/>
            <a:ext cx="2926080" cy="210312"/>
          </a:xfrm>
          <a:prstGeom prst="roundRect">
            <a:avLst>
              <a:gd name="adj" fmla="val 52174"/>
            </a:avLst>
          </a:prstGeom>
          <a:solidFill>
            <a:srgbClr val="FFFFFF">
              <a:alpha val="1500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4008"/>
            <a:ext cx="29260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29  ·  SYSTEM OVERVIEW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74320" y="2926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AgroPrice AI — Complete Intelligence System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274320" y="64008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AGMARKNET data to Gemini-grounded AI advisor · End-to-end agricultural intelligence platform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" y="877824"/>
            <a:ext cx="4425696" cy="1810512"/>
          </a:xfrm>
          <a:prstGeom prst="rect">
            <a:avLst/>
          </a:prstGeom>
          <a:ln w="15240">
            <a:solidFill>
              <a:srgbClr val="3B82F6">
                <a:alpha val="45000"/>
              </a:srgbClr>
            </a:solidFill>
            <a:prstDash val="solid"/>
          </a:ln>
          <a:effectLst>
            <a:outerShdw sx="100000" sy="100000" kx="0" ky="0" algn="bl" rotWithShape="0" blurRad="254000" dist="50800" dir="16200000">
              <a:srgbClr val="3B82F6">
                <a:alpha val="18000"/>
              </a:srgbClr>
            </a:outerShdw>
          </a:effectLst>
        </p:spPr>
      </p:sp>
      <p:pic>
        <p:nvPicPr>
          <p:cNvPr id="10" name="Image 0" descr="D:/mca/2nd semester/GEN AI/EL Project/AgroPrice-AI/presentation/screenshots/cropped/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7744" y="914400"/>
            <a:ext cx="4352544" cy="17373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29184" y="2377440"/>
            <a:ext cx="2011680" cy="201168"/>
          </a:xfrm>
          <a:prstGeom prst="roundRect">
            <a:avLst>
              <a:gd name="adj" fmla="val 54545"/>
            </a:avLst>
          </a:prstGeom>
          <a:solidFill>
            <a:srgbClr val="3B82F6">
              <a:alpha val="30000"/>
            </a:srgbClr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7472" y="2377440"/>
            <a:ext cx="1975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Dashboard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663440" y="877824"/>
            <a:ext cx="4425696" cy="1810512"/>
          </a:xfrm>
          <a:prstGeom prst="rect">
            <a:avLst/>
          </a:prstGeom>
          <a:ln w="15240">
            <a:solidFill>
              <a:srgbClr val="06B6D4">
                <a:alpha val="45000"/>
              </a:srgbClr>
            </a:solidFill>
            <a:prstDash val="solid"/>
          </a:ln>
          <a:effectLst>
            <a:outerShdw sx="100000" sy="100000" kx="0" ky="0" algn="bl" rotWithShape="0" blurRad="254000" dist="50800" dir="16200000">
              <a:srgbClr val="06B6D4">
                <a:alpha val="18000"/>
              </a:srgbClr>
            </a:outerShdw>
          </a:effectLst>
        </p:spPr>
      </p:sp>
      <p:pic>
        <p:nvPicPr>
          <p:cNvPr id="14" name="Image 1" descr="D:/mca/2nd semester/GEN AI/EL Project/AgroPrice-AI/presentation/screenshots/cropped/ma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0016" y="914400"/>
            <a:ext cx="4352544" cy="17373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791456" y="2377440"/>
            <a:ext cx="2011680" cy="201168"/>
          </a:xfrm>
          <a:prstGeom prst="roundRect">
            <a:avLst>
              <a:gd name="adj" fmla="val 54545"/>
            </a:avLst>
          </a:prstGeom>
          <a:solidFill>
            <a:srgbClr val="06B6D4">
              <a:alpha val="30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09744" y="2377440"/>
            <a:ext cx="1975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Geographic Intelligence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201168" y="2706624"/>
            <a:ext cx="4425696" cy="1810512"/>
          </a:xfrm>
          <a:prstGeom prst="rect">
            <a:avLst/>
          </a:prstGeom>
          <a:ln w="15240">
            <a:solidFill>
              <a:srgbClr val="8B5CF6">
                <a:alpha val="45000"/>
              </a:srgbClr>
            </a:solidFill>
            <a:prstDash val="solid"/>
          </a:ln>
          <a:effectLst>
            <a:outerShdw sx="100000" sy="100000" kx="0" ky="0" algn="bl" rotWithShape="0" blurRad="254000" dist="50800" dir="16200000">
              <a:srgbClr val="8B5CF6">
                <a:alpha val="18000"/>
              </a:srgbClr>
            </a:outerShdw>
          </a:effectLst>
        </p:spPr>
      </p:sp>
      <p:pic>
        <p:nvPicPr>
          <p:cNvPr id="18" name="Image 2" descr="D:/mca/2nd semester/GEN AI/EL Project/AgroPrice-AI/presentation/screenshots/cropped/forecast_pipelin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37744" y="2743200"/>
            <a:ext cx="4352544" cy="173736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29184" y="4206240"/>
            <a:ext cx="2011680" cy="201168"/>
          </a:xfrm>
          <a:prstGeom prst="roundRect">
            <a:avLst>
              <a:gd name="adj" fmla="val 54545"/>
            </a:avLst>
          </a:prstGeom>
          <a:solidFill>
            <a:srgbClr val="8B5CF6">
              <a:alpha val="30000"/>
            </a:srgbClr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47472" y="4206240"/>
            <a:ext cx="1975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Decision Pipeline</a:t>
            </a:r>
            <a:endParaRPr lang="en-US" sz="750" dirty="0"/>
          </a:p>
        </p:txBody>
      </p:sp>
      <p:sp>
        <p:nvSpPr>
          <p:cNvPr id="21" name="Shape 16"/>
          <p:cNvSpPr/>
          <p:nvPr/>
        </p:nvSpPr>
        <p:spPr>
          <a:xfrm>
            <a:off x="4663440" y="2706624"/>
            <a:ext cx="4425696" cy="1810512"/>
          </a:xfrm>
          <a:prstGeom prst="rect">
            <a:avLst/>
          </a:prstGeom>
          <a:ln w="15240">
            <a:solidFill>
              <a:srgbClr val="EF4444">
                <a:alpha val="45000"/>
              </a:srgbClr>
            </a:solidFill>
            <a:prstDash val="solid"/>
          </a:ln>
          <a:effectLst>
            <a:outerShdw sx="100000" sy="100000" kx="0" ky="0" algn="bl" rotWithShape="0" blurRad="254000" dist="50800" dir="16200000">
              <a:srgbClr val="EF4444">
                <a:alpha val="18000"/>
              </a:srgbClr>
            </a:outerShdw>
          </a:effectLst>
        </p:spPr>
      </p:sp>
      <p:pic>
        <p:nvPicPr>
          <p:cNvPr id="22" name="Image 3" descr="D:/mca/2nd semester/GEN AI/EL Project/AgroPrice-AI/presentation/screenshots/cropped/advisor_monitor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00016" y="2743200"/>
            <a:ext cx="4352544" cy="173736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791456" y="4206240"/>
            <a:ext cx="2011680" cy="201168"/>
          </a:xfrm>
          <a:prstGeom prst="roundRect">
            <a:avLst>
              <a:gd name="adj" fmla="val 54545"/>
            </a:avLst>
          </a:prstGeom>
          <a:solidFill>
            <a:srgbClr val="EF4444">
              <a:alpha val="30000"/>
            </a:srgbClr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809744" y="4206240"/>
            <a:ext cx="1975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Autonomous Monitor</a:t>
            </a:r>
            <a:endParaRPr lang="en-US" sz="750" dirty="0"/>
          </a:p>
        </p:txBody>
      </p:sp>
      <p:sp>
        <p:nvSpPr>
          <p:cNvPr id="25" name="Shape 19"/>
          <p:cNvSpPr/>
          <p:nvPr/>
        </p:nvSpPr>
        <p:spPr>
          <a:xfrm>
            <a:off x="4480560" y="914400"/>
            <a:ext cx="0" cy="3566160"/>
          </a:xfrm>
          <a:prstGeom prst="line">
            <a:avLst/>
          </a:prstGeom>
          <a:noFill/>
          <a:ln w="10160">
            <a:solidFill>
              <a:srgbClr val="2A4A7A">
                <a:alpha val="5000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237744" y="2706624"/>
            <a:ext cx="8631936" cy="0"/>
          </a:xfrm>
          <a:prstGeom prst="line">
            <a:avLst/>
          </a:prstGeom>
          <a:noFill/>
          <a:ln w="10160">
            <a:solidFill>
              <a:srgbClr val="2A4A7A">
                <a:alpha val="50000"/>
              </a:srgbClr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274320" y="4718304"/>
            <a:ext cx="1664208" cy="201168"/>
          </a:xfrm>
          <a:prstGeom prst="rect">
            <a:avLst/>
          </a:prstGeom>
          <a:solidFill>
            <a:srgbClr val="0D1A2E"/>
          </a:solidFill>
          <a:ln w="1397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329184" y="4718304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48.2M Records</a:t>
            </a:r>
            <a:endParaRPr lang="en-US" sz="750" dirty="0"/>
          </a:p>
        </p:txBody>
      </p:sp>
      <p:sp>
        <p:nvSpPr>
          <p:cNvPr id="29" name="Shape 23"/>
          <p:cNvSpPr/>
          <p:nvPr/>
        </p:nvSpPr>
        <p:spPr>
          <a:xfrm>
            <a:off x="1993392" y="4718304"/>
            <a:ext cx="1664208" cy="201168"/>
          </a:xfrm>
          <a:prstGeom prst="rect">
            <a:avLst/>
          </a:prstGeom>
          <a:solidFill>
            <a:srgbClr val="0D1A2E"/>
          </a:solidFill>
          <a:ln w="1397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2048256" y="4718304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 Crops · 5 States</a:t>
            </a:r>
            <a:endParaRPr lang="en-US" sz="750" dirty="0"/>
          </a:p>
        </p:txBody>
      </p:sp>
      <p:sp>
        <p:nvSpPr>
          <p:cNvPr id="31" name="Shape 25"/>
          <p:cNvSpPr/>
          <p:nvPr/>
        </p:nvSpPr>
        <p:spPr>
          <a:xfrm>
            <a:off x="3712464" y="4718304"/>
            <a:ext cx="1664208" cy="201168"/>
          </a:xfrm>
          <a:prstGeom prst="rect">
            <a:avLst/>
          </a:prstGeom>
          <a:solidFill>
            <a:srgbClr val="0D1A2E"/>
          </a:solidFill>
          <a:ln w="1397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2" name="Text 26"/>
          <p:cNvSpPr/>
          <p:nvPr/>
        </p:nvSpPr>
        <p:spPr>
          <a:xfrm>
            <a:off x="3767328" y="4718304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2015 – 2026</a:t>
            </a:r>
            <a:endParaRPr lang="en-US" sz="750" dirty="0"/>
          </a:p>
        </p:txBody>
      </p:sp>
      <p:sp>
        <p:nvSpPr>
          <p:cNvPr id="33" name="Shape 27"/>
          <p:cNvSpPr/>
          <p:nvPr/>
        </p:nvSpPr>
        <p:spPr>
          <a:xfrm>
            <a:off x="5431536" y="4718304"/>
            <a:ext cx="1664208" cy="201168"/>
          </a:xfrm>
          <a:prstGeom prst="rect">
            <a:avLst/>
          </a:prstGeom>
          <a:solidFill>
            <a:srgbClr val="0D1A2E"/>
          </a:solidFill>
          <a:ln w="1397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5486400" y="4718304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 2.5 Flash</a:t>
            </a:r>
            <a:endParaRPr lang="en-US" sz="750" dirty="0"/>
          </a:p>
        </p:txBody>
      </p:sp>
      <p:sp>
        <p:nvSpPr>
          <p:cNvPr id="35" name="Shape 29"/>
          <p:cNvSpPr/>
          <p:nvPr/>
        </p:nvSpPr>
        <p:spPr>
          <a:xfrm>
            <a:off x="7150608" y="4718304"/>
            <a:ext cx="1664208" cy="201168"/>
          </a:xfrm>
          <a:prstGeom prst="rect">
            <a:avLst/>
          </a:prstGeom>
          <a:solidFill>
            <a:srgbClr val="0D1A2E"/>
          </a:solidFill>
          <a:ln w="1397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6" name="Text 30"/>
          <p:cNvSpPr/>
          <p:nvPr/>
        </p:nvSpPr>
        <p:spPr>
          <a:xfrm>
            <a:off x="7205472" y="4718304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5 · Decision AI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AgroPrice AI — Intelligence Showcase (Slides 20–29)</dc:title>
  <dc:subject>PptxGenJS Presentation</dc:subject>
  <dc:creator>AgroPrice AI · MCA Research Project</dc:creator>
  <cp:lastModifiedBy>AgroPrice AI · MCA Research Project</cp:lastModifiedBy>
  <cp:revision>1</cp:revision>
  <dcterms:created xsi:type="dcterms:W3CDTF">2026-06-15T21:58:19Z</dcterms:created>
  <dcterms:modified xsi:type="dcterms:W3CDTF">2026-06-15T21:58:19Z</dcterms:modified>
</cp:coreProperties>
</file>